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8" d="100"/>
          <a:sy n="148" d="100"/>
        </p:scale>
        <p:origin x="738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AC613C-5D3D-435A-BCA6-382DA3D5252A}" type="datetimeFigureOut">
              <a:rPr lang="es-PE" smtClean="0"/>
              <a:t>5/08/2026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47334-5EB8-4CE6-91EA-EB0FC322C14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15268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47334-5EB8-4CE6-91EA-EB0FC322C142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64382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xagon 1"/>
          <p:cNvSpPr/>
          <p:nvPr/>
        </p:nvSpPr>
        <p:spPr>
          <a:xfrm>
            <a:off x="8778240" y="-914400"/>
            <a:ext cx="3840480" cy="3840480"/>
          </a:xfrm>
          <a:prstGeom prst="hexagon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xagon 2"/>
          <p:cNvSpPr/>
          <p:nvPr/>
        </p:nvSpPr>
        <p:spPr>
          <a:xfrm>
            <a:off x="9692640" y="3291840"/>
            <a:ext cx="3108960" cy="3108960"/>
          </a:xfrm>
          <a:prstGeom prst="hexagon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xagon 3"/>
          <p:cNvSpPr/>
          <p:nvPr/>
        </p:nvSpPr>
        <p:spPr>
          <a:xfrm>
            <a:off x="9464040" y="502920"/>
            <a:ext cx="1920240" cy="1920240"/>
          </a:xfrm>
          <a:prstGeom prst="hexagon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>
            <a:off x="10149840" y="4297680"/>
            <a:ext cx="1371600" cy="1371600"/>
          </a:xfrm>
          <a:prstGeom prst="hexagon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DD4BF"/>
                </a:solidFill>
                <a:latin typeface="Calibri"/>
              </a:rPr>
              <a:t>SISTEMA INTELIGENTE DE GESTIÓN DE ESTACIONAMIENTOS (SIGE)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87782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1F5F9"/>
                </a:solidFill>
                <a:latin typeface="Calibri"/>
              </a:rPr>
              <a:t>De Onion a Arquitectura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DD4BF"/>
                </a:solidFill>
                <a:latin typeface="Calibri"/>
              </a:rPr>
              <a:t>Hexagonal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A8B6CC"/>
                </a:solidFill>
                <a:latin typeface="Calibri"/>
              </a:rPr>
              <a:t>Mismo dominio, mismas reglas de negocio, mismos tests —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A8B6CC"/>
                </a:solidFill>
                <a:latin typeface="Calibri"/>
              </a:rPr>
              <a:t>otra forma de organizar el código alrededor de la misma regla de dependencia.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A8B6CC"/>
                </a:solidFill>
                <a:latin typeface="Calibri"/>
              </a:rPr>
              <a:t>Rama  refactor/hexagonal-architecture   ·   201 archivos reorganizados   ·   45 tests intactos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GANCHO DE APERTURA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E293B"/>
                </a:solidFill>
                <a:latin typeface="Calibri"/>
              </a:rPr>
              <a:t>¿Qué cambia realmente, y qué no?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0584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4864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00"/>
              </a:spcAft>
            </a:pPr>
            <a:r>
              <a:rPr sz="1700" b="1" i="0">
                <a:solidFill>
                  <a:srgbClr val="2DD4BF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E293B"/>
                </a:solidFill>
                <a:latin typeface="Calibri"/>
              </a:rPr>
              <a:t>Ya vimos cómo estructuramos el backend con Onion Architecture: dominio en el centro, capas alrededor.</a:t>
            </a:r>
          </a:p>
          <a:p>
            <a:pPr>
              <a:spcAft>
                <a:spcPts val="1600"/>
              </a:spcAft>
            </a:pPr>
            <a:r>
              <a:rPr sz="1700" b="1" i="0">
                <a:solidFill>
                  <a:srgbClr val="2DD4BF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E293B"/>
                </a:solidFill>
                <a:latin typeface="Calibri"/>
              </a:rPr>
              <a:t>Ahora tomamos el mismo dominio, las mismas reglas de negocio, los mismos tests — y lo reorganizamos con otro patrón muy conocido en la industria.</a:t>
            </a:r>
          </a:p>
          <a:p>
            <a:pPr>
              <a:spcAft>
                <a:spcPts val="1600"/>
              </a:spcAft>
            </a:pPr>
            <a:r>
              <a:rPr sz="1700" b="1" i="0">
                <a:solidFill>
                  <a:srgbClr val="2DD4BF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E293B"/>
                </a:solidFill>
                <a:latin typeface="Calibri"/>
              </a:rPr>
              <a:t>Arquitectura Hexagonal, también llamada Ports &amp; Adapters (Alistair Cockburn).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257800" cy="40233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2148840"/>
            <a:ext cx="466344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LA REGLA QUE NUNCA CAMBIA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</a:pPr>
            <a:r>
              <a:rPr sz="1900" b="0" i="1">
                <a:solidFill>
                  <a:srgbClr val="F1F5F9"/>
                </a:solidFill>
                <a:latin typeface="Calibri"/>
              </a:rPr>
              <a:t>“El código de negocio no puede depender de frameworks ni de infraestructura.”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B6CC"/>
                </a:solidFill>
                <a:latin typeface="Calibri"/>
              </a:rPr>
              <a:t>Lo que cambia es cómo organizamos las carpetas para expresar esa regla.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77C"/>
                </a:solidFill>
                <a:latin typeface="Calibri"/>
              </a:rPr>
              <a:t>SIGE  ·  De Onion a Arquitectura Hexagonal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77C"/>
                </a:solidFill>
                <a:latin typeface="Calibri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1. EL PUNTO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E293B"/>
                </a:solidFill>
                <a:latin typeface="Calibri"/>
              </a:rPr>
              <a:t>Misma regla, distinta organización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0584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25780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5257800" cy="73152"/>
          </a:xfrm>
          <a:prstGeom prst="rect">
            <a:avLst/>
          </a:prstGeom>
          <a:solidFill>
            <a:srgbClr val="5B6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ONION  ·  Anillos concéntricos</a:t>
            </a:r>
          </a:p>
        </p:txBody>
      </p:sp>
      <p:sp>
        <p:nvSpPr>
          <p:cNvPr id="9" name="Oval 8"/>
          <p:cNvSpPr/>
          <p:nvPr/>
        </p:nvSpPr>
        <p:spPr>
          <a:xfrm>
            <a:off x="1920240" y="2423160"/>
            <a:ext cx="2377440" cy="2377440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240280" y="2743200"/>
            <a:ext cx="1737360" cy="173736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560320" y="3063240"/>
            <a:ext cx="1097280" cy="1097280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857500" y="3360420"/>
            <a:ext cx="502920" cy="50292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53212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77C"/>
                </a:solidFill>
                <a:latin typeface="Calibri"/>
              </a:rPr>
              <a:t>Cuánto más adentro, más puro.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83080"/>
            <a:ext cx="525780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783080"/>
            <a:ext cx="5257800" cy="7315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011680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HEXAGONAL  ·  Puertos por dirección</a:t>
            </a:r>
          </a:p>
        </p:txBody>
      </p:sp>
      <p:sp>
        <p:nvSpPr>
          <p:cNvPr id="17" name="Hexagon 16"/>
          <p:cNvSpPr/>
          <p:nvPr/>
        </p:nvSpPr>
        <p:spPr>
          <a:xfrm>
            <a:off x="7818120" y="2606040"/>
            <a:ext cx="1920240" cy="1920240"/>
          </a:xfrm>
          <a:prstGeom prst="hexagon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20" y="32461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1F5F9"/>
                </a:solidFill>
                <a:latin typeface="Calibri"/>
              </a:rPr>
              <a:t>NÚCLEO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A8B6CC"/>
                </a:solidFill>
                <a:latin typeface="Calibri"/>
              </a:rPr>
              <a:t>domain + use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2900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onsolas"/>
              </a:rPr>
              <a:t>→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342900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8BDF8"/>
                </a:solidFill>
                <a:latin typeface="Consolas"/>
              </a:rPr>
              <a:t>OUT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53212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77C"/>
                </a:solidFill>
                <a:latin typeface="Calibri"/>
              </a:rPr>
              <a:t>No importa 'qué tan adentro', sino: ¿esto entra al núcleo, o el núcleo lo llama hacia afuera?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77C"/>
                </a:solidFill>
                <a:latin typeface="Calibri"/>
              </a:rPr>
              <a:t>SIGE  ·  De Onion a Arquitectura Hexagonal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77C"/>
                </a:solidFill>
                <a:latin typeface="Calibri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2. RECORRIDO DE CARPETAS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E293B"/>
                </a:solidFill>
                <a:latin typeface="Calibri"/>
              </a:rPr>
              <a:t>La estructura, antes y después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0584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25780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B677C"/>
                </a:solidFill>
                <a:latin typeface="Calibri"/>
              </a:rPr>
              <a:t>ANTES (Onion)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6634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E293B"/>
                </a:solidFill>
                <a:latin typeface="Consolas"/>
              </a:rPr>
              <a:t>backend/src/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E293B"/>
                </a:solidFill>
                <a:latin typeface="Consolas"/>
              </a:rPr>
              <a:t>  domain/       entidades, policies, ports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E293B"/>
                </a:solidFill>
                <a:latin typeface="Consolas"/>
              </a:rPr>
              <a:t>  application/   use-cases, ports app-level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E293B"/>
                </a:solidFill>
                <a:latin typeface="Consolas"/>
              </a:rPr>
              <a:t>  infrastructure/ Prisma, JWT, QR, DI wiring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E293B"/>
                </a:solidFill>
                <a:latin typeface="Consolas"/>
              </a:rPr>
              <a:t>  presentation/  controllers, DTOs, guards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257800" cy="4160520"/>
          </a:xfrm>
          <a:prstGeom prst="roundRect">
            <a:avLst>
              <a:gd name="adj" fmla="val 4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DESPUÉS (Hexagonal)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14600"/>
            <a:ext cx="46634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F1F5F9"/>
                </a:solidFill>
                <a:latin typeface="Consolas"/>
              </a:rPr>
              <a:t>backend/src/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DD4BF"/>
                </a:solidFill>
                <a:latin typeface="Consolas"/>
              </a:rPr>
              <a:t>  core/        el hexágono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A8B6CC"/>
                </a:solidFill>
                <a:latin typeface="Consolas"/>
              </a:rPr>
              <a:t>    domain/    entidades, policies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A8B6CC"/>
                </a:solidFill>
                <a:latin typeface="Consolas"/>
              </a:rPr>
              <a:t>    application/  use-cases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DD4BF"/>
                </a:solidFill>
                <a:latin typeface="Consolas"/>
              </a:rPr>
              <a:t>    ports/in|out/  25 + N interfaces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38BDF8"/>
                </a:solidFill>
                <a:latin typeface="Consolas"/>
              </a:rPr>
              <a:t>  adapters/    todo lo externo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38BDF8"/>
                </a:solidFill>
                <a:latin typeface="Consolas"/>
              </a:rPr>
              <a:t>    in/  http, scheduler, websocket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38BDF8"/>
                </a:solidFill>
                <a:latin typeface="Consolas"/>
              </a:rPr>
              <a:t>    out/ prisma, jwt, qr, pagos...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A8B6CC"/>
                </a:solidFill>
                <a:latin typeface="Consolas"/>
              </a:rPr>
              <a:t>  bootstrap/   módulos Nest, 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77C"/>
                </a:solidFill>
                <a:latin typeface="Calibri"/>
              </a:rPr>
              <a:t>SIGE  ·  De Onion a Arquitectura Hexagonal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77C"/>
                </a:solidFill>
                <a:latin typeface="Calibri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2. RECORRIDO DE CARPETAS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E293B"/>
                </a:solidFill>
                <a:latin typeface="Calibri"/>
              </a:rPr>
              <a:t>Puertos y adaptadores: in vs.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0584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25780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82296" cy="21488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DD4BF"/>
                </a:solidFill>
                <a:latin typeface="Consolas"/>
              </a:rPr>
              <a:t>PORTS /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Puntos de entrada al núcleo — 25 interfaces, una por caso de uso.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25780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82296" cy="21488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0116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38BDF8"/>
                </a:solidFill>
                <a:latin typeface="Consolas"/>
              </a:rPr>
              <a:t>PORTS /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46888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Lo que el núcleo NECESITA del exterior: repos, reloj, JWT, QR, pagos, notificador.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25780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4160520"/>
            <a:ext cx="82296" cy="21488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3891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DD4BF"/>
                </a:solidFill>
                <a:latin typeface="Consolas"/>
              </a:rPr>
              <a:t>ADAPTERS / 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4632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Algo de afuera DISPARA al núcleo: controllers HTTP, scheduler, websocket gateway.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160520"/>
            <a:ext cx="525780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4160520"/>
            <a:ext cx="82296" cy="21488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43891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38BDF8"/>
                </a:solidFill>
                <a:latin typeface="Consolas"/>
              </a:rPr>
              <a:t>ADAPTERS / 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84632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E293B"/>
                </a:solidFill>
                <a:latin typeface="Calibri"/>
              </a:rPr>
              <a:t>El núcleo USA algo de afuera: Prisma, JWT, HMAC, pagos, notificador realtime.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77C"/>
                </a:solidFill>
                <a:latin typeface="Calibri"/>
              </a:rPr>
              <a:t>SIGE  ·  De Onion a Arquitectura Hexagonal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77C"/>
                </a:solidFill>
                <a:latin typeface="Calibri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B923C"/>
                </a:solidFill>
                <a:latin typeface="Calibri"/>
              </a:rPr>
              <a:t>3. EL CONCEPTO QUE MÁS SORPRENDE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1F5F9"/>
                </a:solidFill>
                <a:latin typeface="Calibri"/>
              </a:rPr>
              <a:t>El notificador de WebSocket es un puerto OUT, no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005840" cy="4064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4864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1550" b="1" i="0">
                <a:solidFill>
                  <a:srgbClr val="FB923C"/>
                </a:solidFill>
                <a:latin typeface="Calibri"/>
              </a:rPr>
              <a:t>—  </a:t>
            </a:r>
            <a:r>
              <a:rPr sz="1550" b="0" i="0">
                <a:solidFill>
                  <a:srgbClr val="F1F5F9"/>
                </a:solidFill>
                <a:latin typeface="Calibri"/>
              </a:rPr>
              <a:t>WebSocket “suena” a algo que recibe conexiones → uno esperaría que fuera “in”.</a:t>
            </a:r>
          </a:p>
          <a:p>
            <a:pPr>
              <a:spcAft>
                <a:spcPts val="1400"/>
              </a:spcAft>
            </a:pPr>
            <a:r>
              <a:rPr sz="1550" b="1" i="0">
                <a:solidFill>
                  <a:srgbClr val="FB923C"/>
                </a:solidFill>
                <a:latin typeface="Calibri"/>
              </a:rPr>
              <a:t>—  </a:t>
            </a:r>
            <a:r>
              <a:rPr sz="1550" b="0" i="0">
                <a:solidFill>
                  <a:srgbClr val="F1F5F9"/>
                </a:solidFill>
                <a:latin typeface="Calibri"/>
              </a:rPr>
              <a:t>Pero miren quién llama a quién: CreateReservationUseCase LLAMA a notifier.notifyReservationCreated(...).</a:t>
            </a:r>
          </a:p>
          <a:p>
            <a:pPr>
              <a:spcAft>
                <a:spcPts val="1400"/>
              </a:spcAft>
            </a:pPr>
            <a:r>
              <a:rPr sz="1550" b="1" i="0">
                <a:solidFill>
                  <a:srgbClr val="FB923C"/>
                </a:solidFill>
                <a:latin typeface="Calibri"/>
              </a:rPr>
              <a:t>—  </a:t>
            </a:r>
            <a:r>
              <a:rPr sz="1550" b="0" i="0">
                <a:solidFill>
                  <a:srgbClr val="F1F5F9"/>
                </a:solidFill>
                <a:latin typeface="Calibri"/>
              </a:rPr>
              <a:t>El núcleo le pide algo al exterior — “avísale a los clientes conectados” — igual que le pide algo a la base de datos.</a:t>
            </a:r>
          </a:p>
          <a:p>
            <a:pPr>
              <a:spcAft>
                <a:spcPts val="1400"/>
              </a:spcAft>
            </a:pPr>
            <a:r>
              <a:rPr sz="1550" b="1" i="0">
                <a:solidFill>
                  <a:srgbClr val="FB923C"/>
                </a:solidFill>
                <a:latin typeface="Calibri"/>
              </a:rPr>
              <a:t>—  </a:t>
            </a:r>
            <a:r>
              <a:rPr sz="1550" b="0" i="0">
                <a:solidFill>
                  <a:srgbClr val="F1F5F9"/>
                </a:solidFill>
                <a:latin typeface="Calibri"/>
              </a:rPr>
              <a:t>events.gateway.ts sí tiene una mitad IN: join:branch / leave:branch llegan desde afuera.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91640"/>
            <a:ext cx="5394960" cy="4480560"/>
          </a:xfrm>
          <a:prstGeom prst="roundRect">
            <a:avLst>
              <a:gd name="adj" fmla="val 5000"/>
            </a:avLst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965960"/>
            <a:ext cx="480060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FB923C"/>
                </a:solidFill>
                <a:latin typeface="Calibri"/>
              </a:rPr>
              <a:t>LA REGLA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</a:pPr>
            <a:r>
              <a:rPr sz="1700" b="0" i="0">
                <a:solidFill>
                  <a:srgbClr val="A8B6CC"/>
                </a:solidFill>
                <a:latin typeface="Calibri"/>
              </a:rPr>
              <a:t>La dirección de un puerto nunca la define la tecnología.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A8B6CC"/>
                </a:solidFill>
                <a:latin typeface="Calibri"/>
              </a:rPr>
              <a:t>La define la dirección de la llamada:</a:t>
            </a:r>
          </a:p>
          <a:p>
            <a:pPr algn="l">
              <a:spcBef>
                <a:spcPts val="0"/>
              </a:spcBef>
              <a:spcAft>
                <a:spcPts val="2200"/>
              </a:spcAft>
            </a:pPr>
            <a:r>
              <a:rPr sz="2400" b="1" i="1">
                <a:solidFill>
                  <a:srgbClr val="F1F5F9"/>
                </a:solidFill>
                <a:latin typeface="Calibri"/>
              </a:rPr>
              <a:t>¿quién llama a quién?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DD4BF"/>
                </a:solidFill>
                <a:latin typeface="Consolas"/>
              </a:rPr>
              <a:t>adapters/in/websocket/events.gateway.ts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8BDF8"/>
                </a:solidFill>
                <a:latin typeface="Consolas"/>
              </a:rPr>
              <a:t>adapters/out/realtime/realtime-notifier.adapter.ts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8B6CC"/>
                </a:solidFill>
                <a:latin typeface="Calibri"/>
              </a:rPr>
              <a:t>SIGE  ·  De Onion a Arquitectura Hexagonal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8B6CC"/>
                </a:solidFill>
                <a:latin typeface="Calibri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4. FLUJO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E293B"/>
                </a:solidFill>
                <a:latin typeface="Calibri"/>
              </a:rPr>
              <a:t>POST /reservations — de punta a punta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0584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084831" cy="1920240"/>
          </a:xfrm>
          <a:prstGeom prst="roundRect">
            <a:avLst>
              <a:gd name="adj" fmla="val 8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313432"/>
            <a:ext cx="181051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C3B36"/>
                </a:solidFill>
                <a:latin typeface="Calibri"/>
              </a:rPr>
              <a:t>ADAPTADOR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810511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C3B36"/>
                </a:solidFill>
                <a:latin typeface="Calibri"/>
              </a:rPr>
              <a:t>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685032"/>
            <a:ext cx="18653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850" b="0" i="1">
                <a:solidFill>
                  <a:srgbClr val="0C3B36"/>
                </a:solidFill>
                <a:latin typeface="Calibri"/>
              </a:rPr>
              <a:t>reservations.controller.ts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69463" y="3026664"/>
            <a:ext cx="128016" cy="164592"/>
          </a:xfrm>
          <a:prstGeom prst="rightArrow">
            <a:avLst/>
          </a:prstGeom>
          <a:solidFill>
            <a:srgbClr val="5B6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679191" y="2148840"/>
            <a:ext cx="2084831" cy="1920240"/>
          </a:xfrm>
          <a:prstGeom prst="roundRect">
            <a:avLst>
              <a:gd name="adj" fmla="val 8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16351" y="2313432"/>
            <a:ext cx="181051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C3B36"/>
                </a:solidFill>
                <a:latin typeface="Calibri"/>
              </a:rPr>
              <a:t>PUERTO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1" y="2743200"/>
            <a:ext cx="1810511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C3B36"/>
                </a:solidFill>
                <a:latin typeface="Calibri"/>
              </a:rPr>
              <a:t>CreateReservationPort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19" y="3685032"/>
            <a:ext cx="18653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850" b="0" i="1">
                <a:solidFill>
                  <a:srgbClr val="0C3B36"/>
                </a:solidFill>
                <a:latin typeface="Calibri"/>
              </a:rPr>
              <a:t>core/ports/in/reservations/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45734" y="3026664"/>
            <a:ext cx="128016" cy="164592"/>
          </a:xfrm>
          <a:prstGeom prst="rightArrow">
            <a:avLst/>
          </a:prstGeom>
          <a:solidFill>
            <a:srgbClr val="5B6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55462" y="2148840"/>
            <a:ext cx="2084831" cy="19202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92622" y="2313432"/>
            <a:ext cx="181051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1F5F9"/>
                </a:solidFill>
                <a:latin typeface="Calibri"/>
              </a:rPr>
              <a:t>NÚCLEO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2" y="2743200"/>
            <a:ext cx="1810511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1F5F9"/>
                </a:solidFill>
                <a:latin typeface="Calibri"/>
              </a:rPr>
              <a:t>CreateReservationUseCase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5190" y="3685032"/>
            <a:ext cx="18653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850" b="0" i="1">
                <a:solidFill>
                  <a:srgbClr val="F1F5F9"/>
                </a:solidFill>
                <a:latin typeface="Calibri"/>
              </a:rPr>
              <a:t>application/use-cases/reservations/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22005" y="3026664"/>
            <a:ext cx="128016" cy="164592"/>
          </a:xfrm>
          <a:prstGeom prst="rightArrow">
            <a:avLst/>
          </a:prstGeom>
          <a:solidFill>
            <a:srgbClr val="5B6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031733" y="2148840"/>
            <a:ext cx="2084831" cy="192024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68893" y="2313432"/>
            <a:ext cx="181051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1F5F9"/>
                </a:solidFill>
                <a:latin typeface="Calibri"/>
              </a:rPr>
              <a:t>PUERTOS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3" y="2743200"/>
            <a:ext cx="1810511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72A44"/>
                </a:solidFill>
                <a:latin typeface="Calibri"/>
              </a:rPr>
              <a:t>ReservationRepositoryPort
+ RealtimeNotifierPort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1461" y="3685032"/>
            <a:ext cx="18653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850" b="0" i="1">
                <a:solidFill>
                  <a:srgbClr val="072A44"/>
                </a:solidFill>
                <a:latin typeface="Calibri"/>
              </a:rPr>
              <a:t>core/ports/out/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098276" y="3026664"/>
            <a:ext cx="128016" cy="164592"/>
          </a:xfrm>
          <a:prstGeom prst="rightArrow">
            <a:avLst/>
          </a:prstGeom>
          <a:solidFill>
            <a:srgbClr val="5B6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208004" y="2148840"/>
            <a:ext cx="2084831" cy="192024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45164" y="2313432"/>
            <a:ext cx="181051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1F5F9"/>
                </a:solidFill>
                <a:latin typeface="Calibri"/>
              </a:rPr>
              <a:t>ADAPTADORES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4" y="2743200"/>
            <a:ext cx="1810511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72A44"/>
                </a:solidFill>
                <a:latin typeface="Calibri"/>
              </a:rPr>
              <a:t>Prisma + WebSocket adapter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2" y="3685032"/>
            <a:ext cx="18653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850" b="0" i="1">
                <a:solidFill>
                  <a:srgbClr val="072A44"/>
                </a:solidFill>
                <a:latin typeface="Calibri"/>
              </a:rPr>
              <a:t>adapters/out/persistence · realtime/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434840"/>
            <a:ext cx="11155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1">
                <a:solidFill>
                  <a:srgbClr val="5B677C"/>
                </a:solidFill>
                <a:latin typeface="Calibri"/>
              </a:rPr>
              <a:t>Dentro del núcleo, el caso de uso también coordina reglas internas (no puertos):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500" b="0" i="0">
                <a:solidFill>
                  <a:srgbClr val="1E293B"/>
                </a:solidFill>
                <a:latin typeface="Consolas"/>
              </a:rPr>
              <a:t>ReservationPolicy · SlotAssignmentPolicy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074920"/>
            <a:ext cx="11155680" cy="9601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F1F5F9"/>
                </a:solidFill>
                <a:latin typeface="Calibri"/>
              </a:rPr>
              <a:t>Ni una sola línea del caso de uso sabe que existe Express, Prisma o Socket.IO.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77C"/>
                </a:solidFill>
                <a:latin typeface="Calibri"/>
              </a:rPr>
              <a:t>SIGE  ·  De Onion a Arquitectura Hexagonal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77C"/>
                </a:solidFill>
                <a:latin typeface="Calibri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4. FLUJO COMPLETO — CÓDIGO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E293B"/>
                </a:solidFill>
                <a:latin typeface="Calibri"/>
              </a:rPr>
              <a:t>El controller ya no conoce la clase concreta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0584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5257800" cy="1737360"/>
          </a:xfrm>
          <a:prstGeom prst="roundRect">
            <a:avLst>
              <a:gd name="adj" fmla="val 4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29968"/>
            <a:ext cx="47091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B6CC"/>
                </a:solidFill>
                <a:latin typeface="Consolas"/>
              </a:rPr>
              <a:t>// adapters/in/http/controllers/reservations.controller.ts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</a:rPr>
              <a:t>constructor(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EEAD4"/>
                </a:solidFill>
                <a:latin typeface="Consolas"/>
              </a:rPr>
              <a:t>  @Inject(CREATE_RESERVATION)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</a:rPr>
              <a:t>  private readonly createReservation: CreateReservationPort,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</a:rPr>
              <a:t>) {}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257800" cy="1737360"/>
          </a:xfrm>
          <a:prstGeom prst="roundRect">
            <a:avLst>
              <a:gd name="adj" fmla="val 4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2029968"/>
            <a:ext cx="47091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B6CC"/>
                </a:solidFill>
                <a:latin typeface="Consolas"/>
              </a:rPr>
              <a:t>// core/ports/in/reservations/create-reservation.port.ts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</a:rPr>
              <a:t>export interface CreateReservationPort 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EEAD4"/>
                </a:solidFill>
                <a:latin typeface="Consolas"/>
              </a:rPr>
              <a:t>  execute(input: CreateReservationInput):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</a:rPr>
              <a:t>    Promise&lt;CreateReservationResult&gt;;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94760"/>
            <a:ext cx="11018520" cy="2148840"/>
          </a:xfrm>
          <a:prstGeom prst="roundRect">
            <a:avLst>
              <a:gd name="adj" fmla="val 4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995928"/>
            <a:ext cx="1046988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A8B6CC"/>
                </a:solidFill>
                <a:latin typeface="Consolas"/>
              </a:rPr>
              <a:t>// bootstrap/reservations.module.ts  — el "cableado"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E2E8F0"/>
                </a:solidFill>
                <a:latin typeface="Consolas"/>
              </a:rPr>
              <a:t>providers: [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E2E8F0"/>
                </a:solidFill>
                <a:latin typeface="Consolas"/>
              </a:rPr>
              <a:t>  CreateReservationUseCase,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5EEAD4"/>
                </a:solidFill>
                <a:latin typeface="Consolas"/>
              </a:rPr>
              <a:t>  { provide: CREATE_RESERVATION,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5EEAD4"/>
                </a:solidFill>
                <a:latin typeface="Consolas"/>
              </a:rPr>
              <a:t>    useExisting: CreateReservationUseCase },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E2E8F0"/>
                </a:solidFill>
                <a:latin typeface="Consolas"/>
              </a:rPr>
              <a:t>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77C"/>
                </a:solidFill>
                <a:latin typeface="Calibri"/>
              </a:rPr>
              <a:t>SIGE  ·  De Onion a Arquitectura Hexagonal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77C"/>
                </a:solidFill>
                <a:latin typeface="Calibri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5. DECISIONES DE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E293B"/>
                </a:solidFill>
                <a:latin typeface="Calibri"/>
              </a:rPr>
              <a:t>Casos donde Hexagonal no fue mecánico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0584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25780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5257800" cy="73152"/>
          </a:xfrm>
          <a:prstGeom prst="rect">
            <a:avLst/>
          </a:prstGeom>
          <a:solidFill>
            <a:srgbClr val="5B6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Las policies NO son puertos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466344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350" b="1" i="0">
                <a:solidFill>
                  <a:srgbClr val="5B677C"/>
                </a:solidFill>
                <a:latin typeface="Calibri"/>
              </a:rPr>
              <a:t>—  </a:t>
            </a:r>
            <a:r>
              <a:rPr sz="1350" b="0" i="0">
                <a:solidFill>
                  <a:srgbClr val="1E293B"/>
                </a:solidFill>
                <a:latin typeface="Calibri"/>
              </a:rPr>
              <a:t>ParkingPolicy, PricingPolicy, ReservationPolicy, SlotAssignmentPolicy usan interfaz + implementación (Strategy).</a:t>
            </a:r>
          </a:p>
          <a:p>
            <a:pPr>
              <a:spcAft>
                <a:spcPts val="1200"/>
              </a:spcAft>
            </a:pPr>
            <a:r>
              <a:rPr sz="1350" b="1" i="0">
                <a:solidFill>
                  <a:srgbClr val="5B677C"/>
                </a:solidFill>
                <a:latin typeface="Calibri"/>
              </a:rPr>
              <a:t>—  </a:t>
            </a:r>
            <a:r>
              <a:rPr sz="1350" b="0" i="0">
                <a:solidFill>
                  <a:srgbClr val="1E293B"/>
                </a:solidFill>
                <a:latin typeface="Calibri"/>
              </a:rPr>
              <a:t>Pero nunca cruzan hacia infraestructura — son reglas de negocio intercambiables DENTRO del núcleo.</a:t>
            </a:r>
          </a:p>
          <a:p>
            <a:pPr>
              <a:spcAft>
                <a:spcPts val="1200"/>
              </a:spcAft>
            </a:pPr>
            <a:r>
              <a:rPr sz="1350" b="1" i="0">
                <a:solidFill>
                  <a:srgbClr val="5B677C"/>
                </a:solidFill>
                <a:latin typeface="Calibri"/>
              </a:rPr>
              <a:t>—  </a:t>
            </a:r>
            <a:r>
              <a:rPr sz="1350" b="0" i="0">
                <a:solidFill>
                  <a:srgbClr val="1E293B"/>
                </a:solidFill>
                <a:latin typeface="Calibri"/>
              </a:rPr>
              <a:t>Se quedan en core/domain/policies/, con su propio policy-tokens.ts.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257800" cy="4160520"/>
          </a:xfrm>
          <a:prstGeom prst="roundRect">
            <a:avLst>
              <a:gd name="adj" fmla="val 4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525780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1F5F9"/>
                </a:solidFill>
                <a:latin typeface="Calibri"/>
              </a:rPr>
              <a:t>PaymentMethod SÍ es puerto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06040"/>
            <a:ext cx="466344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350" b="1" i="0">
                <a:solidFill>
                  <a:srgbClr val="38BDF8"/>
                </a:solidFill>
                <a:latin typeface="Calibri"/>
              </a:rPr>
              <a:t>—  </a:t>
            </a:r>
            <a:r>
              <a:rPr sz="1350" b="0" i="0">
                <a:solidFill>
                  <a:srgbClr val="A8B6CC"/>
                </a:solidFill>
                <a:latin typeface="Calibri"/>
              </a:rPr>
              <a:t>El router que delega a efectivo / tarjeta / Yape / Plin llama a sistemas de pago externos reales.</a:t>
            </a:r>
          </a:p>
          <a:p>
            <a:pPr>
              <a:spcAft>
                <a:spcPts val="1200"/>
              </a:spcAft>
            </a:pPr>
            <a:r>
              <a:rPr sz="1350" b="1" i="0">
                <a:solidFill>
                  <a:srgbClr val="38BDF8"/>
                </a:solidFill>
                <a:latin typeface="Calibri"/>
              </a:rPr>
              <a:t>—  </a:t>
            </a:r>
            <a:r>
              <a:rPr sz="1350" b="0" i="0">
                <a:solidFill>
                  <a:srgbClr val="A8B6CC"/>
                </a:solidFill>
                <a:latin typeface="Calibri"/>
              </a:rPr>
              <a:t>Cruza la frontera del hexágono → es un puerto OUT, aunque en Onion vivía junto a las policies.</a:t>
            </a:r>
          </a:p>
          <a:p>
            <a:pPr>
              <a:spcAft>
                <a:spcPts val="0"/>
              </a:spcAft>
            </a:pPr>
            <a:r>
              <a:rPr sz="1300" b="1" i="0">
                <a:solidFill>
                  <a:srgbClr val="38BDF8"/>
                </a:solidFill>
                <a:latin typeface="Consolas"/>
              </a:rPr>
              <a:t>—  </a:t>
            </a:r>
            <a:r>
              <a:rPr sz="1300" b="0" i="0">
                <a:solidFill>
                  <a:srgbClr val="2DD4BF"/>
                </a:solidFill>
                <a:latin typeface="Consolas"/>
              </a:rPr>
              <a:t>core/ports/out/payment-method.port.ts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77C"/>
                </a:solidFill>
                <a:latin typeface="Calibri"/>
              </a:rPr>
              <a:t>SIGE  ·  De Onion a Arquitectura Hexagonal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77C"/>
                </a:solidFill>
                <a:latin typeface="Calibri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5. DECISIONES DE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E293B"/>
                </a:solidFill>
                <a:latin typeface="Calibri"/>
              </a:rPr>
              <a:t>El scheduler es un adaptador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0584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557784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00"/>
              </a:spcAft>
            </a:pPr>
            <a:r>
              <a:rPr sz="1700" b="1" i="0">
                <a:solidFill>
                  <a:srgbClr val="2DD4BF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E293B"/>
                </a:solidFill>
                <a:latin typeface="Calibri"/>
              </a:rPr>
              <a:t>El cron que expira reservas vencidas cada minuto no tiene nada de HTTP...</a:t>
            </a:r>
          </a:p>
          <a:p>
            <a:pPr>
              <a:spcAft>
                <a:spcPts val="1600"/>
              </a:spcAft>
            </a:pPr>
            <a:r>
              <a:rPr sz="1700" b="1" i="0">
                <a:solidFill>
                  <a:srgbClr val="2DD4BF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E293B"/>
                </a:solidFill>
                <a:latin typeface="Calibri"/>
              </a:rPr>
              <a:t>...pero cumple el mismo rol que un controller: algo externo (el reloj del SO, vía @nestjs/schedule) dispara al núcleo.</a:t>
            </a:r>
          </a:p>
          <a:p>
            <a:pPr>
              <a:spcAft>
                <a:spcPts val="1600"/>
              </a:spcAft>
            </a:pPr>
            <a:r>
              <a:rPr sz="1700" b="1" i="0">
                <a:solidFill>
                  <a:srgbClr val="2DD4BF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E293B"/>
                </a:solidFill>
                <a:latin typeface="Calibri"/>
              </a:rPr>
              <a:t>Es un adaptador IN, igual que AdminController.expireNow(), que dispara el mismo puerto para la demo en vivo.</a:t>
            </a:r>
          </a:p>
          <a:p>
            <a:pPr>
              <a:spcAft>
                <a:spcPts val="0"/>
              </a:spcAft>
            </a:pPr>
            <a:r>
              <a:rPr sz="1700" b="1" i="0">
                <a:solidFill>
                  <a:srgbClr val="2DD4BF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E293B"/>
                </a:solidFill>
                <a:latin typeface="Calibri"/>
              </a:rPr>
              <a:t>Dos adaptadores IN distintos (cron + endpoint admin) comparten un solo puerto 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74519"/>
            <a:ext cx="5257800" cy="40690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2194560"/>
            <a:ext cx="466344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DD4BF"/>
                </a:solidFill>
                <a:latin typeface="Consolas"/>
              </a:rPr>
              <a:t>adapters/in/scheduler/</a:t>
            </a:r>
          </a:p>
          <a:p>
            <a:pPr algn="l">
              <a:spcBef>
                <a:spcPts val="0"/>
              </a:spcBef>
              <a:spcAft>
                <a:spcPts val="2400"/>
              </a:spcAft>
            </a:pPr>
            <a:r>
              <a:rPr sz="1400" b="0" i="0">
                <a:solidFill>
                  <a:srgbClr val="A8B6CC"/>
                </a:solidFill>
                <a:latin typeface="Consolas"/>
              </a:rPr>
              <a:t>reservation-expiration.scheduler.ts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8BDF8"/>
                </a:solidFill>
                <a:latin typeface="Consolas"/>
              </a:rPr>
              <a:t>@Cron('* * * * *')</a:t>
            </a:r>
          </a:p>
          <a:p>
            <a:pPr algn="l">
              <a:spcBef>
                <a:spcPts val="0"/>
              </a:spcBef>
              <a:spcAft>
                <a:spcPts val="2400"/>
              </a:spcAft>
            </a:pPr>
            <a:r>
              <a:rPr sz="1300" b="0" i="0">
                <a:solidFill>
                  <a:srgbClr val="A8B6CC"/>
                </a:solidFill>
                <a:latin typeface="Consolas"/>
              </a:rPr>
              <a:t>→ EXPIRE_OVERDUE_RESERVATIONS (puerto in)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8BDF8"/>
                </a:solidFill>
                <a:latin typeface="Consolas"/>
              </a:rPr>
              <a:t>AdminController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A8B6CC"/>
                </a:solidFill>
                <a:latin typeface="Consolas"/>
              </a:rPr>
              <a:t>POST /admin/reservations/expire-now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A8B6CC"/>
                </a:solidFill>
                <a:latin typeface="Consolas"/>
              </a:rPr>
              <a:t>→ mismo puerto, para la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77C"/>
                </a:solidFill>
                <a:latin typeface="Calibri"/>
              </a:rPr>
              <a:t>SIGE  ·  De Onion a Arquitectura Hexagonal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77C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6. VERIFICACIÓN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E293B"/>
                </a:solidFill>
                <a:latin typeface="Calibri"/>
              </a:rPr>
              <a:t>¿Cómo sabemos que no rompimos nada?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0584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120140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82296" cy="93268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84247"/>
            <a:ext cx="39319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E293B"/>
                </a:solidFill>
                <a:latin typeface="Consolas"/>
              </a:rPr>
              <a:t>npx tsc --noEmit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984247"/>
            <a:ext cx="64922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77C"/>
                </a:solidFill>
                <a:latin typeface="Calibri"/>
              </a:rPr>
              <a:t>Compila sin errores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44367"/>
            <a:ext cx="1120140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944367"/>
            <a:ext cx="82296" cy="93268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054095"/>
            <a:ext cx="39319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E293B"/>
                </a:solidFill>
                <a:latin typeface="Consolas"/>
              </a:rPr>
              <a:t>npm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054095"/>
            <a:ext cx="64922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77C"/>
                </a:solidFill>
                <a:latin typeface="Calibri"/>
              </a:rPr>
              <a:t>45 tests · 9 suites · todos pasan, sin tocar su lógica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14215"/>
            <a:ext cx="1120140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4014215"/>
            <a:ext cx="82296" cy="93268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123943"/>
            <a:ext cx="39319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E293B"/>
                </a:solidFill>
                <a:latin typeface="Consolas"/>
              </a:rPr>
              <a:t>npm run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123943"/>
            <a:ext cx="64922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77C"/>
                </a:solidFill>
                <a:latin typeface="Calibri"/>
              </a:rPr>
              <a:t>Genera dist/src/bootstrap/main.js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084063"/>
            <a:ext cx="1120140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5084063"/>
            <a:ext cx="82296" cy="932688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193791"/>
            <a:ext cx="39319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E293B"/>
                </a:solidFill>
                <a:latin typeface="Consolas"/>
              </a:rPr>
              <a:t>AppModule + Nest Testing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193791"/>
            <a:ext cx="64922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77C"/>
                </a:solidFill>
                <a:latin typeface="Calibri"/>
              </a:rPr>
              <a:t>Los 25 tokens de puerto resuelven correctamente — ningún @Inject apunta a un token sin proveer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77C"/>
                </a:solidFill>
                <a:latin typeface="Calibri"/>
              </a:rPr>
              <a:t>SIGE  ·  De Onion a Arquitectura Hexagonal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77C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6. VERIFICACIÓN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E293B"/>
                </a:solidFill>
                <a:latin typeface="Calibri"/>
              </a:rPr>
              <a:t>201 archivos migrados sin romper nada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0584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E293B"/>
                </a:solidFill>
                <a:latin typeface="Calibri"/>
              </a:rPr>
              <a:t>git mv preserva el historial de cada archivo movido. Un script reescribe automáticamente las rutas de import — no fue manual, uno por uno. En cada paso grande: recompilar y correr tests antes de seguir.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0896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3429000"/>
            <a:ext cx="2651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DD4BF"/>
                </a:solidFill>
                <a:latin typeface="Calibri"/>
              </a:rPr>
              <a:t>201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0624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A8B6CC"/>
                </a:solidFill>
                <a:latin typeface="Calibri"/>
              </a:rPr>
              <a:t>archivos tocados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10896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3429000"/>
            <a:ext cx="2651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38BDF8"/>
                </a:solidFill>
                <a:latin typeface="Calibri"/>
              </a:rPr>
              <a:t>+1667 / -924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420624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A8B6CC"/>
                </a:solidFill>
                <a:latin typeface="Calibri"/>
              </a:rPr>
              <a:t>líneas (git diff --stat)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10896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3429000"/>
            <a:ext cx="2651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DD4BF"/>
                </a:solidFill>
                <a:latin typeface="Calibri"/>
              </a:rPr>
              <a:t>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20624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A8B6CC"/>
                </a:solidFill>
                <a:latin typeface="Calibri"/>
              </a:rPr>
              <a:t>tests, 9 suites, 0 fallos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310896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40" y="3429000"/>
            <a:ext cx="2651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38BDF8"/>
                </a:solidFill>
                <a:latin typeface="Calibri"/>
              </a:rPr>
              <a:t>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420624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A8B6CC"/>
                </a:solidFill>
                <a:latin typeface="Calibri"/>
              </a:rPr>
              <a:t>puertos “in” nuevos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77C"/>
                </a:solidFill>
                <a:latin typeface="Calibri"/>
              </a:rPr>
              <a:t>SIGE  ·  De Onion a Arquitectura Hexagonal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77C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E293B"/>
                </a:solidFill>
                <a:latin typeface="Calibri"/>
              </a:rPr>
              <a:t>Qué se mantuvo igual, qué cambió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0584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25780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5257800" cy="7315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293B"/>
                </a:solidFill>
                <a:latin typeface="Calibri"/>
              </a:rPr>
              <a:t>SE MANTUVO IGUAL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46634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1450" b="1" i="0">
                <a:solidFill>
                  <a:srgbClr val="2DD4BF"/>
                </a:solidFill>
                <a:latin typeface="Calibri"/>
              </a:rPr>
              <a:t>—  </a:t>
            </a:r>
            <a:r>
              <a:rPr sz="1450" b="0" i="0">
                <a:solidFill>
                  <a:srgbClr val="1E293B"/>
                </a:solidFill>
                <a:latin typeface="Calibri"/>
              </a:rPr>
              <a:t>Cero cambios de comportamiento</a:t>
            </a:r>
          </a:p>
          <a:p>
            <a:pPr>
              <a:spcAft>
                <a:spcPts val="1400"/>
              </a:spcAft>
            </a:pPr>
            <a:r>
              <a:rPr sz="1450" b="1" i="0">
                <a:solidFill>
                  <a:srgbClr val="2DD4BF"/>
                </a:solidFill>
                <a:latin typeface="Calibri"/>
              </a:rPr>
              <a:t>—  </a:t>
            </a:r>
            <a:r>
              <a:rPr sz="1450" b="0" i="0">
                <a:solidFill>
                  <a:srgbClr val="1E293B"/>
                </a:solidFill>
                <a:latin typeface="Calibri"/>
              </a:rPr>
              <a:t>Dominio y reglas de negocio</a:t>
            </a:r>
          </a:p>
          <a:p>
            <a:pPr>
              <a:spcAft>
                <a:spcPts val="1400"/>
              </a:spcAft>
            </a:pPr>
            <a:r>
              <a:rPr sz="1450" b="1" i="0">
                <a:solidFill>
                  <a:srgbClr val="2DD4BF"/>
                </a:solidFill>
                <a:latin typeface="Calibri"/>
              </a:rPr>
              <a:t>—  </a:t>
            </a:r>
            <a:r>
              <a:rPr sz="1450" b="0" i="0">
                <a:solidFill>
                  <a:srgbClr val="1E293B"/>
                </a:solidFill>
                <a:latin typeface="Calibri"/>
              </a:rPr>
              <a:t>45 tests unitarios, sin tocar su lógica</a:t>
            </a:r>
          </a:p>
          <a:p>
            <a:pPr>
              <a:spcAft>
                <a:spcPts val="1400"/>
              </a:spcAft>
            </a:pPr>
            <a:r>
              <a:rPr sz="1450" b="1" i="0">
                <a:solidFill>
                  <a:srgbClr val="2DD4BF"/>
                </a:solidFill>
                <a:latin typeface="Calibri"/>
              </a:rPr>
              <a:t>—  </a:t>
            </a:r>
            <a:r>
              <a:rPr sz="1450" b="0" i="0">
                <a:solidFill>
                  <a:srgbClr val="1E293B"/>
                </a:solidFill>
                <a:latin typeface="Calibri"/>
              </a:rPr>
              <a:t>Prisma, JWT, HMAC QR, WebSocket, scheduler</a:t>
            </a:r>
          </a:p>
          <a:p>
            <a:pPr>
              <a:spcAft>
                <a:spcPts val="1400"/>
              </a:spcAft>
            </a:pPr>
            <a:r>
              <a:rPr sz="1450" b="1" i="0">
                <a:solidFill>
                  <a:srgbClr val="2DD4BF"/>
                </a:solidFill>
                <a:latin typeface="Calibri"/>
              </a:rPr>
              <a:t>—  </a:t>
            </a:r>
            <a:r>
              <a:rPr sz="1450" b="0" i="0">
                <a:solidFill>
                  <a:srgbClr val="1E293B"/>
                </a:solidFill>
                <a:latin typeface="Calibri"/>
              </a:rPr>
              <a:t>Mismas librerías, solo reubicadas por dirección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25780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525780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293B"/>
                </a:solidFill>
                <a:latin typeface="Calibri"/>
              </a:rPr>
              <a:t>CAMBIÓ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14600"/>
            <a:ext cx="46634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1450" b="1" i="0">
                <a:solidFill>
                  <a:srgbClr val="38BDF8"/>
                </a:solidFill>
                <a:latin typeface="Calibri"/>
              </a:rPr>
              <a:t>—  </a:t>
            </a:r>
            <a:r>
              <a:rPr sz="1450" b="0" i="0">
                <a:solidFill>
                  <a:srgbClr val="1E293B"/>
                </a:solidFill>
                <a:latin typeface="Calibri"/>
              </a:rPr>
              <a:t>Nombres y agrupación de carpetas</a:t>
            </a:r>
          </a:p>
          <a:p>
            <a:pPr>
              <a:spcAft>
                <a:spcPts val="1400"/>
              </a:spcAft>
            </a:pPr>
            <a:r>
              <a:rPr sz="1450" b="1" i="0">
                <a:solidFill>
                  <a:srgbClr val="38BDF8"/>
                </a:solidFill>
                <a:latin typeface="Calibri"/>
              </a:rPr>
              <a:t>—  </a:t>
            </a:r>
            <a:r>
              <a:rPr sz="1450" b="0" i="0">
                <a:solidFill>
                  <a:srgbClr val="1E293B"/>
                </a:solidFill>
                <a:latin typeface="Calibri"/>
              </a:rPr>
              <a:t>Vocabulario: anillos → puertos por dirección</a:t>
            </a:r>
          </a:p>
          <a:p>
            <a:pPr>
              <a:spcAft>
                <a:spcPts val="1400"/>
              </a:spcAft>
            </a:pPr>
            <a:r>
              <a:rPr sz="1450" b="1" i="0">
                <a:solidFill>
                  <a:srgbClr val="38BDF8"/>
                </a:solidFill>
                <a:latin typeface="Calibri"/>
              </a:rPr>
              <a:t>—  </a:t>
            </a:r>
            <a:r>
              <a:rPr sz="1450" b="0" i="0">
                <a:solidFill>
                  <a:srgbClr val="1E293B"/>
                </a:solidFill>
                <a:latin typeface="Calibri"/>
              </a:rPr>
              <a:t>25 interfaces nuevas de puerto “in”</a:t>
            </a:r>
          </a:p>
          <a:p>
            <a:pPr>
              <a:spcAft>
                <a:spcPts val="1400"/>
              </a:spcAft>
            </a:pPr>
            <a:r>
              <a:rPr sz="1450" b="1" i="0">
                <a:solidFill>
                  <a:srgbClr val="38BDF8"/>
                </a:solidFill>
                <a:latin typeface="Calibri"/>
              </a:rPr>
              <a:t>—  </a:t>
            </a:r>
            <a:r>
              <a:rPr sz="1450" b="0" i="0">
                <a:solidFill>
                  <a:srgbClr val="1E293B"/>
                </a:solidFill>
                <a:latin typeface="Calibri"/>
              </a:rPr>
              <a:t>Vuelta a unificar tokens en ports/out/tokens.ts</a:t>
            </a:r>
          </a:p>
          <a:p>
            <a:pPr>
              <a:spcAft>
                <a:spcPts val="1400"/>
              </a:spcAft>
            </a:pPr>
            <a:r>
              <a:rPr sz="1450" b="1" i="0">
                <a:solidFill>
                  <a:srgbClr val="38BDF8"/>
                </a:solidFill>
                <a:latin typeface="Calibri"/>
              </a:rPr>
              <a:t>—  </a:t>
            </a:r>
            <a:r>
              <a:rPr sz="1450" b="0" i="0">
                <a:solidFill>
                  <a:srgbClr val="1E293B"/>
                </a:solidFill>
                <a:latin typeface="Calibri"/>
              </a:rPr>
              <a:t>PaymentMethod pasó de policy a puerto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77C"/>
                </a:solidFill>
                <a:latin typeface="Calibri"/>
              </a:rPr>
              <a:t>SIGE  ·  De Onion a Arquitectura Hexagonal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77C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xagon 1"/>
          <p:cNvSpPr/>
          <p:nvPr/>
        </p:nvSpPr>
        <p:spPr>
          <a:xfrm>
            <a:off x="-1097280" y="-1280160"/>
            <a:ext cx="4114800" cy="4114800"/>
          </a:xfrm>
          <a:prstGeom prst="hexagon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xagon 2"/>
          <p:cNvSpPr/>
          <p:nvPr/>
        </p:nvSpPr>
        <p:spPr>
          <a:xfrm>
            <a:off x="10241280" y="4572000"/>
            <a:ext cx="3291840" cy="3291840"/>
          </a:xfrm>
          <a:prstGeom prst="hexagon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DD4BF"/>
                </a:solidFill>
                <a:latin typeface="Calibri"/>
              </a:rPr>
              <a:t>7.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1F5F9"/>
                </a:solidFill>
                <a:latin typeface="Calibri"/>
              </a:rPr>
              <a:t>La misma regla de dependencia,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DD4BF"/>
                </a:solidFill>
                <a:latin typeface="Calibri"/>
              </a:rPr>
              <a:t>dos vocabularios distintos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0"/>
            <a:ext cx="96926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DD4BF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F1F5F9"/>
                </a:solidFill>
                <a:latin typeface="Calibri"/>
              </a:rPr>
              <a:t>Onion piensa en anillos concéntricos.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DD4BF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F1F5F9"/>
                </a:solidFill>
                <a:latin typeface="Calibri"/>
              </a:rPr>
              <a:t>Hexagonal piensa en puertos con dirección: IN cuando algo entra a activar al núcleo, OUT cuando el núcleo pide algo hacia afuera.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800" b="1" i="1">
                <a:solidFill>
                  <a:srgbClr val="FB923C"/>
                </a:solidFill>
                <a:latin typeface="Calibri"/>
              </a:rPr>
              <a:t>Esa sola pregunta — ¿quién llama a quién? — clasifica cada archivo del proyecto.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8B6CC"/>
                </a:solidFill>
                <a:latin typeface="Calibri"/>
              </a:rPr>
              <a:t>SIGE  ·  De Onion a Arquitectura Hexagonal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8B6CC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1487</Words>
  <Application>Microsoft Office PowerPoint</Application>
  <PresentationFormat>Panorámica</PresentationFormat>
  <Paragraphs>193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alejandro humberto lizana ventura</cp:lastModifiedBy>
  <cp:revision>2</cp:revision>
  <dcterms:created xsi:type="dcterms:W3CDTF">2013-01-27T09:14:16Z</dcterms:created>
  <dcterms:modified xsi:type="dcterms:W3CDTF">2026-08-06T01:56:35Z</dcterms:modified>
  <cp:category/>
</cp:coreProperties>
</file>