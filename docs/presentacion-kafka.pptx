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xagon 1"/>
          <p:cNvSpPr/>
          <p:nvPr/>
        </p:nvSpPr>
        <p:spPr>
          <a:xfrm>
            <a:off x="8778240" y="-914400"/>
            <a:ext cx="3840480" cy="3840480"/>
          </a:xfrm>
          <a:prstGeom prst="hexagon">
            <a:avLst/>
          </a:prstGeom>
          <a:solidFill>
            <a:srgbClr val="16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xagon 2"/>
          <p:cNvSpPr/>
          <p:nvPr/>
        </p:nvSpPr>
        <p:spPr>
          <a:xfrm>
            <a:off x="9692640" y="3291840"/>
            <a:ext cx="3108960" cy="3108960"/>
          </a:xfrm>
          <a:prstGeom prst="hexagon">
            <a:avLst/>
          </a:prstGeom>
          <a:solidFill>
            <a:srgbClr val="16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xagon 3"/>
          <p:cNvSpPr/>
          <p:nvPr/>
        </p:nvSpPr>
        <p:spPr>
          <a:xfrm>
            <a:off x="9464040" y="502920"/>
            <a:ext cx="1920240" cy="1920240"/>
          </a:xfrm>
          <a:prstGeom prst="hexagon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exagon 4"/>
          <p:cNvSpPr/>
          <p:nvPr/>
        </p:nvSpPr>
        <p:spPr>
          <a:xfrm>
            <a:off x="10149840" y="4297680"/>
            <a:ext cx="1371600" cy="1371600"/>
          </a:xfrm>
          <a:prstGeom prst="hexagon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2DD4BF"/>
                </a:solidFill>
                <a:latin typeface="Calibri"/>
              </a:rPr>
              <a:t>SISTEMA INTELIGENTE DE GESTION DE ESTACIONAMIENTOS (SIGE)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8778240" cy="10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1F5F9"/>
                </a:solidFill>
                <a:latin typeface="Calibri"/>
              </a:rPr>
              <a:t>Kafka: la confirmacion de reserva </a:t>
            </a:r>
            <a:r>
              <a:rPr sz="4000" b="1">
                <a:solidFill>
                  <a:srgbClr val="2DD4BF"/>
                </a:solidFill>
                <a:latin typeface="Calibri"/>
              </a:rPr>
              <a:t>se convierte en correo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160520"/>
            <a:ext cx="80467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A8B6CC"/>
                </a:solidFill>
                <a:latin typeface="Calibri"/>
              </a:rPr>
              <a:t>Un evento de dominio, un topico de Kafka, y un servicio aislado </a:t>
            </a:r>
            <a:r>
              <a:rPr sz="1700" b="0">
                <a:solidFill>
                  <a:srgbClr val="A8B6CC"/>
                </a:solidFill>
                <a:latin typeface="Calibri"/>
              </a:rPr>
              <a:t>que envia el correo — sin acoplar la creacion de la reserva al envio.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80644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>
                <a:solidFill>
                  <a:srgbClr val="A8B6CC"/>
                </a:solidFill>
                <a:latin typeface="Calibri"/>
              </a:rPr>
              <a:t>Rama hexagonal+eventos  ·  topico notifications.email.confirmation  ·  validado end-to-end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28016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2DD4BF"/>
                </a:solidFill>
                <a:latin typeface="Calibri"/>
              </a:rPr>
              <a:t>1. EL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E293B"/>
                </a:solidFill>
                <a:latin typeface="Calibri"/>
              </a:rPr>
              <a:t>Desacoplar el correo de la creacion de la reserva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1005840" cy="4064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77C"/>
                </a:solidFill>
                <a:latin typeface="Calibri"/>
              </a:rPr>
              <a:t>SIGE · Kafka — eventos de confirmacion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77C"/>
                </a:solidFill>
                <a:latin typeface="Calibri"/>
              </a:rPr>
              <a:t>02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28800"/>
            <a:ext cx="5486400" cy="40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450" b="1">
                <a:solidFill>
                  <a:srgbClr val="2DD4BF"/>
                </a:solidFill>
                <a:latin typeface="Calibri"/>
              </a:rPr>
              <a:t>●  </a:t>
            </a:r>
            <a:r>
              <a:rPr sz="1450" b="1">
                <a:solidFill>
                  <a:srgbClr val="1E293B"/>
                </a:solidFill>
                <a:latin typeface="Calibri"/>
              </a:rPr>
              <a:t>Antes: </a:t>
            </a:r>
            <a:r>
              <a:rPr sz="1450" b="0">
                <a:solidFill>
                  <a:srgbClr val="1E293B"/>
                </a:solidFill>
                <a:latin typeface="Calibri"/>
              </a:rPr>
              <a:t>una reserva se crea, y en el mismo request habria que mandar el correo. Si el SMTP esta lento o caido, la reserva se atrasa o falla por un efecto secundario.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450" b="1">
                <a:solidFill>
                  <a:srgbClr val="2DD4BF"/>
                </a:solidFill>
                <a:latin typeface="Calibri"/>
              </a:rPr>
              <a:t>●  </a:t>
            </a:r>
            <a:r>
              <a:rPr sz="1450" b="1">
                <a:solidFill>
                  <a:srgbClr val="1E293B"/>
                </a:solidFill>
                <a:latin typeface="Calibri"/>
              </a:rPr>
              <a:t>Ahora: </a:t>
            </a:r>
            <a:r>
              <a:rPr sz="1450" b="0">
                <a:solidFill>
                  <a:srgbClr val="1E293B"/>
                </a:solidFill>
                <a:latin typeface="Calibri"/>
              </a:rPr>
              <a:t>el nucleo del backend solo publica un evento — 'esta reserva quedo confirmada' — y sigue. Alguien mas, afuera, decide que hacer con eso.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450" b="1">
                <a:solidFill>
                  <a:srgbClr val="2DD4BF"/>
                </a:solidFill>
                <a:latin typeface="Calibri"/>
              </a:rPr>
              <a:t>●  </a:t>
            </a:r>
            <a:r>
              <a:rPr sz="1450" b="1">
                <a:solidFill>
                  <a:srgbClr val="1E293B"/>
                </a:solidFill>
                <a:latin typeface="Calibri"/>
              </a:rPr>
              <a:t>Kafka </a:t>
            </a:r>
            <a:r>
              <a:rPr sz="1450" b="0">
                <a:solidFill>
                  <a:srgbClr val="1E293B"/>
                </a:solidFill>
                <a:latin typeface="Calibri"/>
              </a:rPr>
              <a:t>es el bus de eventos de salida: desacopla en el tiempo (el consumidor puede estar caido) y en el espacio (ni el backend sabe que existe un servicio de correo).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828800"/>
            <a:ext cx="5257800" cy="4023360"/>
          </a:xfrm>
          <a:prstGeom prst="roundRect">
            <a:avLst>
              <a:gd name="adj" fmla="val 4500"/>
            </a:avLst>
          </a:prstGeom>
          <a:solidFill>
            <a:srgbClr val="0F172A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20840" y="2148840"/>
            <a:ext cx="466344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Calibri"/>
              </a:rPr>
              <a:t>POR QUE UN BUS DE EVENTOS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2620000"/>
            <a:ext cx="4663440" cy="3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350" b="1">
                <a:solidFill>
                  <a:srgbClr val="2DD4BF"/>
                </a:solidFill>
                <a:latin typeface="Calibri"/>
              </a:rPr>
              <a:t>●  </a:t>
            </a:r>
            <a:r>
              <a:rPr sz="1350" b="0">
                <a:solidFill>
                  <a:srgbClr val="F1F5F9"/>
                </a:solidFill>
                <a:latin typeface="Calibri"/>
              </a:rPr>
              <a:t>Resiliencia: Kafka caido nunca bloquea una reserva.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350" b="1">
                <a:solidFill>
                  <a:srgbClr val="2DD4BF"/>
                </a:solidFill>
                <a:latin typeface="Calibri"/>
              </a:rPr>
              <a:t>●  </a:t>
            </a:r>
            <a:r>
              <a:rPr sz="1350" b="0">
                <a:solidFill>
                  <a:srgbClr val="F1F5F9"/>
                </a:solidFill>
                <a:latin typeface="Calibri"/>
              </a:rPr>
              <a:t>Un productor, muchos consumidores futuros posibles (correo, analytics, auditoria) sin tocar el nucleo.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350" b="1">
                <a:solidFill>
                  <a:srgbClr val="2DD4BF"/>
                </a:solidFill>
                <a:latin typeface="Calibri"/>
              </a:rPr>
              <a:t>●  </a:t>
            </a:r>
            <a:r>
              <a:rPr sz="1350" b="0">
                <a:solidFill>
                  <a:srgbClr val="F1F5F9"/>
                </a:solidFill>
                <a:latin typeface="Calibri"/>
              </a:rPr>
              <a:t>El nucleo no conoce Kafka: solo publica a traves de un puerto.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28016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2DD4BF"/>
                </a:solidFill>
                <a:latin typeface="Calibri"/>
              </a:rPr>
              <a:t>2. ARQUITECTURA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E293B"/>
                </a:solidFill>
                <a:latin typeface="Calibri"/>
              </a:rPr>
              <a:t>Un puerto OUT, un adaptador de Kafka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1005840" cy="4064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77C"/>
                </a:solidFill>
                <a:latin typeface="Calibri"/>
              </a:rPr>
              <a:t>SIGE · Kafka — eventos de confirmacion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77C"/>
                </a:solidFill>
                <a:latin typeface="Calibri"/>
              </a:rPr>
              <a:t>03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28800"/>
            <a:ext cx="5486400" cy="40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400" b="1">
                <a:solidFill>
                  <a:srgbClr val="2DD4BF"/>
                </a:solidFill>
                <a:latin typeface="Calibri"/>
              </a:rPr>
              <a:t>●  </a:t>
            </a:r>
            <a:r>
              <a:rPr sz="1400" b="1">
                <a:solidFill>
                  <a:srgbClr val="1E293B"/>
                </a:solidFill>
                <a:latin typeface="Calibri"/>
              </a:rPr>
              <a:t>NotificationPublisherPort </a:t>
            </a:r>
            <a:r>
              <a:rPr sz="1400" b="0">
                <a:solidFill>
                  <a:srgbClr val="1E293B"/>
                </a:solidFill>
                <a:latin typeface="Calibri"/>
              </a:rPr>
              <a:t>vive en core/ports/out — el nucleo declara que necesita avisar 'algo' hacia afuera, sin saber que es Kafka.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400" b="1">
                <a:solidFill>
                  <a:srgbClr val="2DD4BF"/>
                </a:solidFill>
                <a:latin typeface="Calibri"/>
              </a:rPr>
              <a:t>●  </a:t>
            </a:r>
            <a:r>
              <a:rPr sz="1400" b="1">
                <a:solidFill>
                  <a:srgbClr val="1E293B"/>
                </a:solidFill>
                <a:latin typeface="Calibri"/>
              </a:rPr>
              <a:t>KafkaNotificationPublisherAdapter </a:t>
            </a:r>
            <a:r>
              <a:rPr sz="1400" b="0">
                <a:solidFill>
                  <a:srgbClr val="1E293B"/>
                </a:solidFill>
                <a:latin typeface="Calibri"/>
              </a:rPr>
              <a:t>implementa ese puerto con kafkajs. Es la unica pieza del sistema que sabe que existe un broker.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400" b="1">
                <a:solidFill>
                  <a:srgbClr val="2DD4BF"/>
                </a:solidFill>
                <a:latin typeface="Calibri"/>
              </a:rPr>
              <a:t>●  </a:t>
            </a:r>
            <a:r>
              <a:rPr sz="1400" b="1">
                <a:solidFill>
                  <a:srgbClr val="1E293B"/>
                </a:solidFill>
                <a:latin typeface="Calibri"/>
              </a:rPr>
              <a:t>CreateReservationUseCase </a:t>
            </a:r>
            <a:r>
              <a:rPr sz="1400" b="0">
                <a:solidFill>
                  <a:srgbClr val="1E293B"/>
                </a:solidFill>
                <a:latin typeface="Calibri"/>
              </a:rPr>
              <a:t>invoca el puerto, no el adaptador. Se podria cambiar Kafka por SQS sin tocar una linea de logica de negocio.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828800"/>
            <a:ext cx="5257800" cy="40233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828800"/>
            <a:ext cx="5257800" cy="73152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720840" y="2140000"/>
            <a:ext cx="2000000" cy="1400000"/>
          </a:xfrm>
          <a:prstGeom prst="roundRect">
            <a:avLst>
              <a:gd name="adj" fmla="val 4500"/>
            </a:avLst>
          </a:prstGeom>
          <a:solidFill>
            <a:srgbClr val="0F172A"/>
          </a:solidFill>
          <a:ln w="9525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20840" y="2450000"/>
            <a:ext cx="18000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2DD4BF"/>
                </a:solidFill>
                <a:latin typeface="Calibri"/>
              </a:rPr>
              <a:t>NUCLEO</a:t>
            </a:r>
          </a:p>
          <a:p>
            <a:pPr algn="ctr"/>
            <a:r>
              <a:rPr sz="1200" b="0">
                <a:solidFill>
                  <a:srgbClr val="F1F5F9"/>
                </a:solidFill>
                <a:latin typeface="Calibri"/>
              </a:rPr>
              <a:t>CreateReservation</a:t>
            </a:r>
          </a:p>
          <a:p>
            <a:pPr algn="ctr"/>
            <a:r>
              <a:rPr sz="1200" b="0">
                <a:solidFill>
                  <a:srgbClr val="F1F5F9"/>
                </a:solidFill>
                <a:latin typeface="Calibri"/>
              </a:rPr>
              <a:t>UseCase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30000" y="3520000"/>
            <a:ext cx="13000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77C"/>
                </a:solidFill>
                <a:latin typeface="Calibri"/>
              </a:rPr>
              <a:t>publica via</a:t>
            </a:r>
          </a:p>
          <a:p>
            <a:pPr algn="l">
              <a:lnSpc>
                <a:spcPct val="100000"/>
              </a:lnSpc>
            </a:pPr>
            <a:r>
              <a:rPr sz="1150" b="1">
                <a:solidFill>
                  <a:srgbClr val="1E293B"/>
                </a:solidFill>
                <a:latin typeface="Calibri"/>
              </a:rPr>
              <a:t>puerto OUT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20840" y="3900000"/>
            <a:ext cx="2000000" cy="140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20840" y="4200000"/>
            <a:ext cx="18000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2DD4BF"/>
                </a:solidFill>
                <a:latin typeface="Calibri"/>
              </a:rPr>
              <a:t>ADAPTADOR</a:t>
            </a:r>
          </a:p>
          <a:p>
            <a:pPr algn="ctr"/>
            <a:r>
              <a:rPr sz="1200" b="0">
                <a:solidFill>
                  <a:srgbClr val="1E293B"/>
                </a:solidFill>
                <a:latin typeface="Calibri"/>
              </a:rPr>
              <a:t>KafkaNotification</a:t>
            </a:r>
          </a:p>
          <a:p>
            <a:pPr algn="ctr"/>
            <a:r>
              <a:rPr sz="1200" b="0">
                <a:solidFill>
                  <a:srgbClr val="1E293B"/>
                </a:solidFill>
                <a:latin typeface="Calibri"/>
              </a:rPr>
              <a:t>PublisherAdapter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00000" y="3540000"/>
            <a:ext cx="30000" cy="3600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200000" y="3900000"/>
            <a:ext cx="2100000" cy="1400000"/>
          </a:xfrm>
          <a:prstGeom prst="roundRect">
            <a:avLst>
              <a:gd name="adj" fmla="val 4500"/>
            </a:avLst>
          </a:prstGeom>
          <a:solidFill>
            <a:srgbClr val="0F172A"/>
          </a:solidFill>
          <a:ln w="9525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00000" y="4200000"/>
            <a:ext cx="19000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38BDF8"/>
                </a:solidFill>
                <a:latin typeface="Calibri"/>
              </a:rPr>
              <a:t>Kafka</a:t>
            </a:r>
          </a:p>
          <a:p>
            <a:pPr algn="ctr"/>
            <a:r>
              <a:rPr sz="1100" b="0">
                <a:solidFill>
                  <a:srgbClr val="A8B6CC"/>
                </a:solidFill>
                <a:latin typeface="Calibri"/>
              </a:rPr>
              <a:t>topico:</a:t>
            </a:r>
          </a:p>
          <a:p>
            <a:pPr algn="ctr"/>
            <a:r>
              <a:rPr sz="1050" b="0">
                <a:solidFill>
                  <a:srgbClr val="F1F5F9"/>
                </a:solidFill>
                <a:latin typeface="Consolas"/>
              </a:rPr>
              <a:t>notifications.email.</a:t>
            </a:r>
          </a:p>
          <a:p>
            <a:pPr algn="ctr"/>
            <a:r>
              <a:rPr sz="1050" b="0">
                <a:solidFill>
                  <a:srgbClr val="F1F5F9"/>
                </a:solidFill>
                <a:latin typeface="Consolas"/>
              </a:rPr>
              <a:t>confirmation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20000" y="4520000"/>
            <a:ext cx="480000" cy="300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28016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2DD4BF"/>
                </a:solidFill>
                <a:latin typeface="Calibri"/>
              </a:rPr>
              <a:t>3. EL CONTRATO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E293B"/>
                </a:solidFill>
                <a:latin typeface="Calibri"/>
              </a:rPr>
              <a:t>ReservationConfirmationEvent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1005840" cy="4064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77C"/>
                </a:solidFill>
                <a:latin typeface="Calibri"/>
              </a:rPr>
              <a:t>SIGE · Kafka — eventos de confirmacion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77C"/>
                </a:solidFill>
                <a:latin typeface="Calibri"/>
              </a:rPr>
              <a:t>04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50000"/>
            <a:ext cx="1118796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>
                <a:solidFill>
                  <a:srgbClr val="1E293B"/>
                </a:solidFill>
                <a:latin typeface="Calibri"/>
              </a:rPr>
              <a:t>El evento que se publica cuando una reserva queda </a:t>
            </a:r>
            <a:r>
              <a:rPr sz="1450" b="1">
                <a:solidFill>
                  <a:srgbClr val="2DD4BF"/>
                </a:solidFill>
                <a:latin typeface="Calibri"/>
              </a:rPr>
              <a:t>CREATED</a:t>
            </a:r>
            <a:r>
              <a:rPr sz="1450" b="0">
                <a:solidFill>
                  <a:srgbClr val="1E293B"/>
                </a:solidFill>
                <a:latin typeface="Calibri"/>
              </a:rPr>
              <a:t> — nunca se lanza para reservas rechazadas o sugeridas.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350000"/>
            <a:ext cx="7300000" cy="3550000"/>
          </a:xfrm>
          <a:prstGeom prst="roundRect">
            <a:avLst>
              <a:gd name="adj" fmla="val 3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578600"/>
            <a:ext cx="6842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38BDF8"/>
                </a:solidFill>
                <a:latin typeface="Consolas"/>
              </a:rPr>
              <a:t>core/ports/out/notification-publisher.port.ts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898640"/>
            <a:ext cx="6842800" cy="2772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A8B6CC"/>
                </a:solidFill>
                <a:latin typeface="Consolas"/>
              </a:rPr>
              <a:t>interface </a:t>
            </a:r>
            <a:r>
              <a:rPr sz="1250" b="0">
                <a:solidFill>
                  <a:srgbClr val="F1F5F9"/>
                </a:solidFill>
                <a:latin typeface="Consolas"/>
              </a:rPr>
              <a:t>ReservationConfirmationEvent </a:t>
            </a:r>
            <a:r>
              <a:rPr sz="1250" b="0">
                <a:solidFill>
                  <a:srgbClr val="A8B6CC"/>
                </a:solidFill>
                <a:latin typeface="Consolas"/>
              </a:rPr>
              <a:t>{</a:t>
            </a:r>
          </a:p>
          <a:p>
            <a:pPr algn="l">
              <a:lnSpc>
                <a:spcPct val="118000"/>
              </a:lnSpc>
            </a:pPr>
            <a:r>
              <a:rPr sz="1250" b="0">
                <a:solidFill>
                  <a:srgbClr val="38BDF8"/>
                </a:solidFill>
                <a:latin typeface="Consolas"/>
              </a:rPr>
              <a:t>  eventId</a:t>
            </a:r>
            <a:r>
              <a:rPr sz="1250" b="0">
                <a:solidFill>
                  <a:srgbClr val="F1F5F9"/>
                </a:solidFill>
                <a:latin typeface="Consolas"/>
              </a:rPr>
              <a:t>: string;              </a:t>
            </a:r>
            <a:r>
              <a:rPr sz="1250" b="0">
                <a:solidFill>
                  <a:srgbClr val="A8B6CC"/>
                </a:solidFill>
                <a:latin typeface="Consolas"/>
              </a:rPr>
              <a:t>// randomUUID()</a:t>
            </a:r>
          </a:p>
          <a:p>
            <a:pPr algn="l">
              <a:lnSpc>
                <a:spcPct val="118000"/>
              </a:lnSpc>
            </a:pPr>
            <a:r>
              <a:rPr sz="1250" b="0">
                <a:solidFill>
                  <a:srgbClr val="38BDF8"/>
                </a:solidFill>
                <a:latin typeface="Consolas"/>
              </a:rPr>
              <a:t>  eventType</a:t>
            </a:r>
            <a:r>
              <a:rPr sz="1250" b="0">
                <a:solidFill>
                  <a:srgbClr val="F1F5F9"/>
                </a:solidFill>
                <a:latin typeface="Consolas"/>
              </a:rPr>
              <a:t>: 'reservation.confirmation.email';</a:t>
            </a:r>
          </a:p>
          <a:p>
            <a:pPr algn="l">
              <a:lnSpc>
                <a:spcPct val="118000"/>
              </a:lnSpc>
            </a:pPr>
            <a:r>
              <a:rPr sz="1250" b="0">
                <a:solidFill>
                  <a:srgbClr val="38BDF8"/>
                </a:solidFill>
                <a:latin typeface="Consolas"/>
              </a:rPr>
              <a:t>  occurredAt</a:t>
            </a:r>
            <a:r>
              <a:rPr sz="1250" b="0">
                <a:solidFill>
                  <a:srgbClr val="F1F5F9"/>
                </a:solidFill>
                <a:latin typeface="Consolas"/>
              </a:rPr>
              <a:t>: Date;</a:t>
            </a:r>
          </a:p>
          <a:p>
            <a:pPr algn="l">
              <a:lnSpc>
                <a:spcPct val="118000"/>
              </a:lnSpc>
            </a:pPr>
            <a:r>
              <a:rPr sz="1250" b="0">
                <a:solidFill>
                  <a:srgbClr val="38BDF8"/>
                </a:solidFill>
                <a:latin typeface="Consolas"/>
              </a:rPr>
              <a:t>  reservationId</a:t>
            </a:r>
            <a:r>
              <a:rPr sz="1250" b="0">
                <a:solidFill>
                  <a:srgbClr val="F1F5F9"/>
                </a:solidFill>
                <a:latin typeface="Consolas"/>
              </a:rPr>
              <a:t>: string;       </a:t>
            </a:r>
            <a:r>
              <a:rPr sz="1250" b="0">
                <a:solidFill>
                  <a:srgbClr val="A8B6CC"/>
                </a:solidFill>
                <a:latin typeface="Consolas"/>
              </a:rPr>
              <a:t>// = key del mensaje</a:t>
            </a:r>
          </a:p>
          <a:p>
            <a:pPr algn="l">
              <a:lnSpc>
                <a:spcPct val="118000"/>
              </a:lnSpc>
            </a:pPr>
            <a:r>
              <a:rPr sz="1250" b="0">
                <a:solidFill>
                  <a:srgbClr val="38BDF8"/>
                </a:solidFill>
                <a:latin typeface="Consolas"/>
              </a:rPr>
              <a:t>  userId</a:t>
            </a:r>
            <a:r>
              <a:rPr sz="1250" b="0">
                <a:solidFill>
                  <a:srgbClr val="F1F5F9"/>
                </a:solidFill>
                <a:latin typeface="Consolas"/>
              </a:rPr>
              <a:t>: string;</a:t>
            </a:r>
          </a:p>
          <a:p>
            <a:pPr algn="l">
              <a:lnSpc>
                <a:spcPct val="118000"/>
              </a:lnSpc>
            </a:pPr>
            <a:r>
              <a:rPr sz="1250" b="0">
                <a:solidFill>
                  <a:srgbClr val="38BDF8"/>
                </a:solidFill>
                <a:latin typeface="Consolas"/>
              </a:rPr>
              <a:t>  userEmail</a:t>
            </a:r>
            <a:r>
              <a:rPr sz="1250" b="0">
                <a:solidFill>
                  <a:srgbClr val="F1F5F9"/>
                </a:solidFill>
                <a:latin typeface="Consolas"/>
              </a:rPr>
              <a:t>: string;</a:t>
            </a:r>
          </a:p>
          <a:p>
            <a:pPr algn="l">
              <a:lnSpc>
                <a:spcPct val="118000"/>
              </a:lnSpc>
            </a:pPr>
            <a:r>
              <a:rPr sz="1250" b="0">
                <a:solidFill>
                  <a:srgbClr val="38BDF8"/>
                </a:solidFill>
                <a:latin typeface="Consolas"/>
              </a:rPr>
              <a:t>  userFullName</a:t>
            </a:r>
            <a:r>
              <a:rPr sz="1250" b="0">
                <a:solidFill>
                  <a:srgbClr val="F1F5F9"/>
                </a:solidFill>
                <a:latin typeface="Consolas"/>
              </a:rPr>
              <a:t>: string;</a:t>
            </a:r>
          </a:p>
          <a:p>
            <a:pPr algn="l">
              <a:lnSpc>
                <a:spcPct val="118000"/>
              </a:lnSpc>
            </a:pPr>
            <a:r>
              <a:rPr sz="1250" b="0">
                <a:solidFill>
                  <a:srgbClr val="38BDF8"/>
                </a:solidFill>
                <a:latin typeface="Consolas"/>
              </a:rPr>
              <a:t>  branchId</a:t>
            </a:r>
            <a:r>
              <a:rPr sz="1250" b="0">
                <a:solidFill>
                  <a:srgbClr val="F1F5F9"/>
                </a:solidFill>
                <a:latin typeface="Consolas"/>
              </a:rPr>
              <a:t>, </a:t>
            </a:r>
            <a:r>
              <a:rPr sz="1250" b="0">
                <a:solidFill>
                  <a:srgbClr val="38BDF8"/>
                </a:solidFill>
                <a:latin typeface="Consolas"/>
              </a:rPr>
              <a:t>branchName</a:t>
            </a:r>
            <a:r>
              <a:rPr sz="1250" b="0">
                <a:solidFill>
                  <a:srgbClr val="F1F5F9"/>
                </a:solidFill>
                <a:latin typeface="Consolas"/>
              </a:rPr>
              <a:t>, </a:t>
            </a:r>
            <a:r>
              <a:rPr sz="1250" b="0">
                <a:solidFill>
                  <a:srgbClr val="38BDF8"/>
                </a:solidFill>
                <a:latin typeface="Consolas"/>
              </a:rPr>
              <a:t>branchAddress</a:t>
            </a:r>
            <a:r>
              <a:rPr sz="1250" b="0">
                <a:solidFill>
                  <a:srgbClr val="F1F5F9"/>
                </a:solidFill>
                <a:latin typeface="Consolas"/>
              </a:rPr>
              <a:t>: string;</a:t>
            </a:r>
          </a:p>
          <a:p>
            <a:pPr algn="l">
              <a:lnSpc>
                <a:spcPct val="118000"/>
              </a:lnSpc>
            </a:pPr>
            <a:r>
              <a:rPr sz="1250" b="0">
                <a:solidFill>
                  <a:srgbClr val="38BDF8"/>
                </a:solidFill>
                <a:latin typeface="Consolas"/>
              </a:rPr>
              <a:t>  slotId</a:t>
            </a:r>
            <a:r>
              <a:rPr sz="1250" b="0">
                <a:solidFill>
                  <a:srgbClr val="F1F5F9"/>
                </a:solidFill>
                <a:latin typeface="Consolas"/>
              </a:rPr>
              <a:t>: string;</a:t>
            </a:r>
          </a:p>
          <a:p>
            <a:pPr algn="l">
              <a:lnSpc>
                <a:spcPct val="118000"/>
              </a:lnSpc>
            </a:pPr>
            <a:r>
              <a:rPr sz="1250" b="0">
                <a:solidFill>
                  <a:srgbClr val="38BDF8"/>
                </a:solidFill>
                <a:latin typeface="Consolas"/>
              </a:rPr>
              <a:t>  startAt</a:t>
            </a:r>
            <a:r>
              <a:rPr sz="1250" b="0">
                <a:solidFill>
                  <a:srgbClr val="F1F5F9"/>
                </a:solidFill>
                <a:latin typeface="Consolas"/>
              </a:rPr>
              <a:t>, </a:t>
            </a:r>
            <a:r>
              <a:rPr sz="1250" b="0">
                <a:solidFill>
                  <a:srgbClr val="38BDF8"/>
                </a:solidFill>
                <a:latin typeface="Consolas"/>
              </a:rPr>
              <a:t>expiresAt</a:t>
            </a:r>
            <a:r>
              <a:rPr sz="1250" b="0">
                <a:solidFill>
                  <a:srgbClr val="F1F5F9"/>
                </a:solidFill>
                <a:latin typeface="Consolas"/>
              </a:rPr>
              <a:t>: Date;</a:t>
            </a:r>
          </a:p>
          <a:p>
            <a:pPr algn="l">
              <a:lnSpc>
                <a:spcPct val="118000"/>
              </a:lnSpc>
            </a:pPr>
            <a:r>
              <a:rPr sz="1250" b="0">
                <a:solidFill>
                  <a:srgbClr val="A8B6CC"/>
                </a:solidFill>
                <a:latin typeface="Consolas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00000" y="2450000"/>
            <a:ext cx="3560000" cy="3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250" b="1">
                <a:solidFill>
                  <a:srgbClr val="2DD4BF"/>
                </a:solidFill>
                <a:latin typeface="Calibri"/>
              </a:rPr>
              <a:t>●  </a:t>
            </a:r>
            <a:r>
              <a:rPr sz="1250" b="1">
                <a:solidFill>
                  <a:srgbClr val="1E293B"/>
                </a:solidFill>
                <a:latin typeface="Calibri"/>
              </a:rPr>
              <a:t>Todo lo que hace falta </a:t>
            </a:r>
            <a:r>
              <a:rPr sz="1250" b="0">
                <a:solidFill>
                  <a:srgbClr val="1E293B"/>
                </a:solidFill>
                <a:latin typeface="Calibri"/>
              </a:rPr>
              <a:t>para redactar el correo va en el evento: no hay round-trip de vuelta al backend.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250" b="1">
                <a:solidFill>
                  <a:srgbClr val="2DD4BF"/>
                </a:solidFill>
                <a:latin typeface="Calibri"/>
              </a:rPr>
              <a:t>●  </a:t>
            </a:r>
            <a:r>
              <a:rPr sz="1250" b="1">
                <a:solidFill>
                  <a:srgbClr val="1E293B"/>
                </a:solidFill>
                <a:latin typeface="Calibri"/>
              </a:rPr>
              <a:t>key = reservationId</a:t>
            </a:r>
            <a:r>
              <a:rPr sz="1250" b="0">
                <a:solidFill>
                  <a:srgbClr val="1E293B"/>
                </a:solidFill>
                <a:latin typeface="Calibri"/>
              </a:rPr>
              <a:t> en el mensaje de Kafka: mismo orden garantizado por reserva, aunque haya mas particiones.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250" b="1">
                <a:solidFill>
                  <a:srgbClr val="2DD4BF"/>
                </a:solidFill>
                <a:latin typeface="Calibri"/>
              </a:rPr>
              <a:t>●  </a:t>
            </a:r>
            <a:r>
              <a:rPr sz="1250" b="1">
                <a:solidFill>
                  <a:srgbClr val="1E293B"/>
                </a:solidFill>
                <a:latin typeface="Calibri"/>
              </a:rPr>
              <a:t>Serializado como JSON </a:t>
            </a:r>
            <a:r>
              <a:rPr sz="1250" b="0">
                <a:solidFill>
                  <a:srgbClr val="1E293B"/>
                </a:solidFill>
                <a:latin typeface="Calibri"/>
              </a:rPr>
              <a:t>plano — visible tal cual en kafka-ui, sin Avro/Schema Registry en este alcance.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28016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2DD4BF"/>
                </a:solidFill>
                <a:latin typeface="Calibri"/>
              </a:rPr>
              <a:t>4. EL PRODUCTOR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E293B"/>
                </a:solidFill>
                <a:latin typeface="Calibri"/>
              </a:rPr>
              <a:t>Resiliencia deliberada: Kafka nunca tumba una reserva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1005840" cy="4064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77C"/>
                </a:solidFill>
                <a:latin typeface="Calibri"/>
              </a:rPr>
              <a:t>SIGE · Kafka — eventos de confirmacion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77C"/>
                </a:solidFill>
                <a:latin typeface="Calibri"/>
              </a:rPr>
              <a:t>05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28800"/>
            <a:ext cx="5486400" cy="40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400" b="1">
                <a:solidFill>
                  <a:srgbClr val="2DD4BF"/>
                </a:solidFill>
                <a:latin typeface="Calibri"/>
              </a:rPr>
              <a:t>●  </a:t>
            </a:r>
            <a:r>
              <a:rPr sz="1400" b="1">
                <a:solidFill>
                  <a:srgbClr val="1E293B"/>
                </a:solidFill>
                <a:latin typeface="Calibri"/>
              </a:rPr>
              <a:t>Publish envuelto en try/catch: </a:t>
            </a:r>
            <a:r>
              <a:rPr sz="1400" b="0">
                <a:solidFill>
                  <a:srgbClr val="1E293B"/>
                </a:solidFill>
                <a:latin typeface="Calibri"/>
              </a:rPr>
              <a:t>si falla, se loguea como error y el flujo de creacion de la reserva sigue normal — el usuario nunca ve un 500 por culpa de Kafka.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400" b="1">
                <a:solidFill>
                  <a:srgbClr val="2DD4BF"/>
                </a:solidFill>
                <a:latin typeface="Calibri"/>
              </a:rPr>
              <a:t>●  </a:t>
            </a:r>
            <a:r>
              <a:rPr sz="1400" b="1">
                <a:solidFill>
                  <a:srgbClr val="1E293B"/>
                </a:solidFill>
                <a:latin typeface="Calibri"/>
              </a:rPr>
              <a:t>Reconexion perezosa: </a:t>
            </a:r>
            <a:r>
              <a:rPr sz="1400" b="0">
                <a:solidFill>
                  <a:srgbClr val="1E293B"/>
                </a:solidFill>
                <a:latin typeface="Calibri"/>
              </a:rPr>
              <a:t>si el broker no estaba arriba al iniciar el backend, el primer publish reintenta conectar antes de enviar.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400" b="1">
                <a:solidFill>
                  <a:srgbClr val="2DD4BF"/>
                </a:solidFill>
                <a:latin typeface="Calibri"/>
              </a:rPr>
              <a:t>●  </a:t>
            </a:r>
            <a:r>
              <a:rPr sz="1400" b="1">
                <a:solidFill>
                  <a:srgbClr val="1E293B"/>
                </a:solidFill>
                <a:latin typeface="Calibri"/>
              </a:rPr>
              <a:t>allowAutoTopicCreation: true </a:t>
            </a:r>
            <a:r>
              <a:rPr sz="1400" b="0">
                <a:solidFill>
                  <a:srgbClr val="1E293B"/>
                </a:solidFill>
                <a:latin typeface="Calibri"/>
              </a:rPr>
              <a:t>— el topico se crea solo la primera vez que se publica, sin paso manual de setup.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828800"/>
            <a:ext cx="5257800" cy="4023360"/>
          </a:xfrm>
          <a:prstGeom prst="roundRect">
            <a:avLst>
              <a:gd name="adj" fmla="val 4500"/>
            </a:avLst>
          </a:prstGeom>
          <a:solidFill>
            <a:srgbClr val="0F172A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20840" y="2148840"/>
            <a:ext cx="466344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Calibri"/>
              </a:rPr>
              <a:t>MISMO CRITERIO EN TODO EL SISTEMA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2620000"/>
            <a:ext cx="4663440" cy="3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300" b="1">
                <a:solidFill>
                  <a:srgbClr val="2DD4BF"/>
                </a:solidFill>
                <a:latin typeface="Calibri"/>
              </a:rPr>
              <a:t>●  </a:t>
            </a:r>
            <a:r>
              <a:rPr sz="1300" b="0">
                <a:solidFill>
                  <a:srgbClr val="F1F5F9"/>
                </a:solidFill>
                <a:latin typeface="Calibri"/>
              </a:rPr>
              <a:t>RealtimeNotifierAdapter (WebSocket) tampoco bloquea la reserva si el socket falla.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300" b="1">
                <a:solidFill>
                  <a:srgbClr val="2DD4BF"/>
                </a:solidFill>
                <a:latin typeface="Calibri"/>
              </a:rPr>
              <a:t>●  </a:t>
            </a:r>
            <a:r>
              <a:rPr sz="1300" b="0">
                <a:solidFill>
                  <a:srgbClr val="F1F5F9"/>
                </a:solidFill>
                <a:latin typeface="Calibri"/>
              </a:rPr>
              <a:t>publishConfirmationEmail() esta en su propio try/catch: ni siquiera un fallo leyendo user/branch puede tumbar una reserva ya confirmada.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300" b="1">
                <a:solidFill>
                  <a:srgbClr val="2DD4BF"/>
                </a:solidFill>
                <a:latin typeface="Calibri"/>
              </a:rPr>
              <a:t>●  </a:t>
            </a:r>
            <a:r>
              <a:rPr sz="1300" b="0">
                <a:solidFill>
                  <a:srgbClr val="F1F5F9"/>
                </a:solidFill>
                <a:latin typeface="Calibri"/>
              </a:rPr>
              <a:t>Efecto secundario = best effort. La reserva es la operacion critica, el correo no.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28016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2DD4BF"/>
                </a:solidFill>
                <a:latin typeface="Calibri"/>
              </a:rPr>
              <a:t>5. INFRAESTRUCTURA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E293B"/>
                </a:solidFill>
                <a:latin typeface="Calibri"/>
              </a:rPr>
              <a:t>Kafka en modo KRaft + kafka-ui, por docker-compose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1005840" cy="4064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77C"/>
                </a:solidFill>
                <a:latin typeface="Calibri"/>
              </a:rPr>
              <a:t>SIGE · Kafka — eventos de confirmacion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77C"/>
                </a:solidFill>
                <a:latin typeface="Calibri"/>
              </a:rPr>
              <a:t>06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28800"/>
            <a:ext cx="11187960" cy="11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450" b="1">
                <a:solidFill>
                  <a:srgbClr val="2DD4BF"/>
                </a:solidFill>
                <a:latin typeface="Calibri"/>
              </a:rPr>
              <a:t>●  </a:t>
            </a:r>
            <a:r>
              <a:rPr sz="1450" b="1">
                <a:solidFill>
                  <a:srgbClr val="1E293B"/>
                </a:solidFill>
                <a:latin typeface="Calibri"/>
              </a:rPr>
              <a:t>apache/kafka:3.7.0 en modo KRaft </a:t>
            </a:r>
            <a:r>
              <a:rPr sz="1450" b="0">
                <a:solidFill>
                  <a:srgbClr val="1E293B"/>
                </a:solidFill>
                <a:latin typeface="Calibri"/>
              </a:rPr>
              <a:t>(sin Zookeeper) — un solo contenedor hace de broker y controller.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450" b="1">
                <a:solidFill>
                  <a:srgbClr val="2DD4BF"/>
                </a:solidFill>
                <a:latin typeface="Calibri"/>
              </a:rPr>
              <a:t>●  </a:t>
            </a:r>
            <a:r>
              <a:rPr sz="1450" b="1">
                <a:solidFill>
                  <a:srgbClr val="1E293B"/>
                </a:solidFill>
                <a:latin typeface="Calibri"/>
              </a:rPr>
              <a:t>kafka-ui (provectuslabs) </a:t>
            </a:r>
            <a:r>
              <a:rPr sz="1450" b="0">
                <a:solidFill>
                  <a:srgbClr val="1E293B"/>
                </a:solidFill>
                <a:latin typeface="Calibri"/>
              </a:rPr>
              <a:t>en localhost:8080 — inspecciona topicos, particiones y mensajes sin tocar la terminal.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200000"/>
            <a:ext cx="3600000" cy="265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3200000"/>
            <a:ext cx="3600000" cy="7315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450000"/>
            <a:ext cx="31428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Consolas"/>
              </a:rPr>
              <a:t>kafka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850000"/>
            <a:ext cx="31428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38BDF8"/>
                </a:solidFill>
                <a:latin typeface="Calibri"/>
              </a:rPr>
              <a:t>broker · puerto 29092 (host)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300000"/>
            <a:ext cx="3142800" cy="1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B677C"/>
                </a:solidFill>
                <a:latin typeface="Calibri"/>
              </a:rPr>
              <a:t>KRaft, sin Zookeeper.</a:t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5B677C"/>
                </a:solidFill>
                <a:latin typeface="Calibri"/>
              </a:rPr>
              <a:t>auto.create.topics=true.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02920" y="3200000"/>
            <a:ext cx="3600000" cy="265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02920" y="3200000"/>
            <a:ext cx="3600000" cy="73152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31520" y="3450000"/>
            <a:ext cx="31428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Consolas"/>
              </a:rPr>
              <a:t>kafka-ui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1520" y="3850000"/>
            <a:ext cx="31428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Calibri"/>
              </a:rPr>
              <a:t>consola web · puerto 8080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1520" y="4300000"/>
            <a:ext cx="3142800" cy="1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B677C"/>
                </a:solidFill>
                <a:latin typeface="Calibri"/>
              </a:rPr>
              <a:t>Ver topicos, mensajes,</a:t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5B677C"/>
                </a:solidFill>
                <a:latin typeface="Calibri"/>
              </a:rPr>
              <a:t>consumer groups en vivo.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2920" y="3200000"/>
            <a:ext cx="3600000" cy="265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02920" y="3200000"/>
            <a:ext cx="3600000" cy="7315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31520" y="3450000"/>
            <a:ext cx="31428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Consolas"/>
              </a:rPr>
              <a:t>backend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1520" y="3850000"/>
            <a:ext cx="31428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38BDF8"/>
                </a:solidFill>
                <a:latin typeface="Calibri"/>
              </a:rPr>
              <a:t>productor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1520" y="4300000"/>
            <a:ext cx="3142800" cy="1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B677C"/>
                </a:solidFill>
                <a:latin typeface="Calibri"/>
              </a:rPr>
              <a:t>KafkaNotificationPublisher</a:t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5B677C"/>
                </a:solidFill>
                <a:latin typeface="Calibri"/>
              </a:rPr>
              <a:t>Adapter publica al confirmar.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28016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2DD4BF"/>
                </a:solidFill>
                <a:latin typeface="Calibri"/>
              </a:rPr>
              <a:t>6. EN VIVO — KAFKA-UI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E293B"/>
                </a:solidFill>
                <a:latin typeface="Calibri"/>
              </a:rPr>
              <a:t>El topico, tal como se ve en el navegador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1005840" cy="4064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77C"/>
                </a:solidFill>
                <a:latin typeface="Calibri"/>
              </a:rPr>
              <a:t>SIGE · Kafka — eventos de confirmacion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77C"/>
                </a:solidFill>
                <a:latin typeface="Calibri"/>
              </a:rPr>
              <a:t>07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950000"/>
            <a:ext cx="5486400" cy="1401231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950000"/>
            <a:ext cx="5486400" cy="73152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opics_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60312"/>
            <a:ext cx="5212080" cy="779439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40080" y="3031191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5B677C"/>
                </a:solidFill>
                <a:latin typeface="Calibri"/>
              </a:rPr>
              <a:t>Topics -&gt; notifications.email.confirmation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950000"/>
            <a:ext cx="5257800" cy="3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400" b="1">
                <a:solidFill>
                  <a:srgbClr val="2DD4BF"/>
                </a:solidFill>
                <a:latin typeface="Calibri"/>
              </a:rPr>
              <a:t>●  </a:t>
            </a:r>
            <a:r>
              <a:rPr sz="1400" b="1">
                <a:solidFill>
                  <a:srgbClr val="1E293B"/>
                </a:solidFill>
                <a:latin typeface="Calibri"/>
              </a:rPr>
              <a:t>1 particion, </a:t>
            </a:r>
            <a:r>
              <a:rPr sz="1400" b="0">
                <a:solidFill>
                  <a:srgbClr val="1E293B"/>
                </a:solidFill>
                <a:latin typeface="Calibri"/>
              </a:rPr>
              <a:t>replication factor 1 (entorno de demo local, un solo broker).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400" b="1">
                <a:solidFill>
                  <a:srgbClr val="2DD4BF"/>
                </a:solidFill>
                <a:latin typeface="Calibri"/>
              </a:rPr>
              <a:t>●  </a:t>
            </a:r>
            <a:r>
              <a:rPr sz="1400" b="1">
                <a:solidFill>
                  <a:srgbClr val="1E293B"/>
                </a:solidFill>
                <a:latin typeface="Calibri"/>
              </a:rPr>
              <a:t>5 mensajes </a:t>
            </a:r>
            <a:r>
              <a:rPr sz="1400" b="0">
                <a:solidFill>
                  <a:srgbClr val="1E293B"/>
                </a:solidFill>
                <a:latin typeface="Calibri"/>
              </a:rPr>
              <a:t>en este momento — una por cada reserva confirmada que probamos en la sesion.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400" b="1">
                <a:solidFill>
                  <a:srgbClr val="2DD4BF"/>
                </a:solidFill>
                <a:latin typeface="Calibri"/>
              </a:rPr>
              <a:t>●  </a:t>
            </a:r>
            <a:r>
              <a:rPr sz="1400" b="1">
                <a:solidFill>
                  <a:srgbClr val="1E293B"/>
                </a:solidFill>
                <a:latin typeface="Calibri"/>
              </a:rPr>
              <a:t>3 KB </a:t>
            </a:r>
            <a:r>
              <a:rPr sz="1400" b="0">
                <a:solidFill>
                  <a:srgbClr val="1E293B"/>
                </a:solidFill>
                <a:latin typeface="Calibri"/>
              </a:rPr>
              <a:t>de tamano total: el JSON del evento es chico, pensado para leerse rapido, no para cargar payloads grandes.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400" b="1">
                <a:solidFill>
                  <a:srgbClr val="2DD4BF"/>
                </a:solidFill>
                <a:latin typeface="Calibri"/>
              </a:rPr>
              <a:t>●  </a:t>
            </a:r>
            <a:r>
              <a:rPr sz="1400" b="1">
                <a:solidFill>
                  <a:srgbClr val="1E293B"/>
                </a:solidFill>
                <a:latin typeface="Calibri"/>
              </a:rPr>
              <a:t>Clean up policy: DELETE </a:t>
            </a:r>
            <a:r>
              <a:rPr sz="1400" b="0">
                <a:solidFill>
                  <a:srgbClr val="1E293B"/>
                </a:solidFill>
                <a:latin typeface="Calibri"/>
              </a:rPr>
              <a:t>— por retention time, no compactado (no necesitamos el 'ultimo valor por key').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28016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2DD4BF"/>
                </a:solidFill>
                <a:latin typeface="Calibri"/>
              </a:rPr>
              <a:t>6. EN VIVO — KAFKA-UI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E293B"/>
                </a:solidFill>
                <a:latin typeface="Calibri"/>
              </a:rPr>
              <a:t>Un mensaje real, expandido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1005840" cy="4064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77C"/>
                </a:solidFill>
                <a:latin typeface="Calibri"/>
              </a:rPr>
              <a:t>SIGE · Kafka — eventos de confirmacion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77C"/>
                </a:solidFill>
                <a:latin typeface="Calibri"/>
              </a:rPr>
              <a:t>08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50000"/>
            <a:ext cx="7100000" cy="304051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750000"/>
            <a:ext cx="7100000" cy="73152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essage_expan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60312"/>
            <a:ext cx="6825680" cy="2418722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40080" y="4470474"/>
            <a:ext cx="6825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5B677C"/>
                </a:solidFill>
                <a:latin typeface="Calibri"/>
              </a:rPr>
              <a:t>Messages -&gt; offset 4 -&gt; Value (JSON completo, tal como lo consume notifications-service)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0000" y="1900000"/>
            <a:ext cx="4260000" cy="40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250" b="1">
                <a:solidFill>
                  <a:srgbClr val="2DD4BF"/>
                </a:solidFill>
                <a:latin typeface="Calibri"/>
              </a:rPr>
              <a:t>●  </a:t>
            </a:r>
            <a:r>
              <a:rPr sz="1250" b="1">
                <a:solidFill>
                  <a:srgbClr val="1E293B"/>
                </a:solidFill>
                <a:latin typeface="Calibri"/>
              </a:rPr>
              <a:t>Key = reservationId </a:t>
            </a:r>
            <a:r>
              <a:rPr sz="1250" b="0">
                <a:solidFill>
                  <a:srgbClr val="1E293B"/>
                </a:solidFill>
                <a:latin typeface="Calibri"/>
              </a:rPr>
              <a:t>(cacf4d9e-...) — visible en la columna Key, aparte del value.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250" b="1">
                <a:solidFill>
                  <a:srgbClr val="2DD4BF"/>
                </a:solidFill>
                <a:latin typeface="Calibri"/>
              </a:rPr>
              <a:t>●  </a:t>
            </a:r>
            <a:r>
              <a:rPr sz="1250" b="1">
                <a:solidFill>
                  <a:srgbClr val="1E293B"/>
                </a:solidFill>
                <a:latin typeface="Calibri"/>
              </a:rPr>
              <a:t>userEmail va en el evento: </a:t>
            </a:r>
            <a:r>
              <a:rPr sz="1250" b="0">
                <a:solidFill>
                  <a:srgbClr val="1E293B"/>
                </a:solidFill>
                <a:latin typeface="Calibri"/>
              </a:rPr>
              <a:t>humberto.lizana@gmail.com, listo para que el consumidor arme el correo sin llamar de vuelta al backend.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250" b="1">
                <a:solidFill>
                  <a:srgbClr val="2DD4BF"/>
                </a:solidFill>
                <a:latin typeface="Calibri"/>
              </a:rPr>
              <a:t>●  </a:t>
            </a:r>
            <a:r>
              <a:rPr sz="1250" b="1">
                <a:solidFill>
                  <a:srgbClr val="1E293B"/>
                </a:solidFill>
                <a:latin typeface="Calibri"/>
              </a:rPr>
              <a:t>Headers: </a:t>
            </a:r>
            <a:r>
              <a:rPr sz="1250" b="0">
                <a:solidFill>
                  <a:srgbClr val="1E293B"/>
                </a:solidFill>
                <a:latin typeface="Calibri"/>
              </a:rPr>
              <a:t>eventType tambien viaja como header de Kafka, no solo dentro del JSON — un consumidor podria filtrar sin deserializar el value.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28016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2DD4BF"/>
                </a:solidFill>
                <a:latin typeface="Calibri"/>
              </a:rPr>
              <a:t>7. VALIDACION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E293B"/>
                </a:solidFill>
                <a:latin typeface="Calibri"/>
              </a:rPr>
              <a:t>De punta a punta, contra infraestructura 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1005840" cy="4064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77C"/>
                </a:solidFill>
                <a:latin typeface="Calibri"/>
              </a:rPr>
              <a:t>SIGE · Kafka — eventos de confirmacion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77C"/>
                </a:solidFill>
                <a:latin typeface="Calibri"/>
              </a:rPr>
              <a:t>09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050000"/>
            <a:ext cx="2750000" cy="320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050000"/>
            <a:ext cx="2750000" cy="73152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20" y="2300000"/>
            <a:ext cx="500000" cy="500000"/>
          </a:xfrm>
          <a:prstGeom prst="ellipse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1600">
                <a:solidFill>
                  <a:srgbClr val="2DD4B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00000"/>
            <a:ext cx="229280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>
                <a:solidFill>
                  <a:srgbClr val="1E293B"/>
                </a:solidFill>
                <a:latin typeface="Consolas"/>
              </a:rPr>
              <a:t>POST /reservations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500000"/>
            <a:ext cx="2292800" cy="1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5B677C"/>
                </a:solidFill>
                <a:latin typeface="Calibri"/>
              </a:rPr>
              <a:t>El backend confirma la reserva (o la encola via RabbitMQ y el worker la confirma).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52920" y="3550000"/>
            <a:ext cx="80001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2DD4BF"/>
                </a:solidFill>
                <a:latin typeface="Calibr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2920" y="2050000"/>
            <a:ext cx="2750000" cy="320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32920" y="2050000"/>
            <a:ext cx="2750000" cy="73152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61520" y="2300000"/>
            <a:ext cx="500000" cy="500000"/>
          </a:xfrm>
          <a:prstGeom prst="ellipse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1600">
                <a:solidFill>
                  <a:srgbClr val="2DD4B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1520" y="3000000"/>
            <a:ext cx="229280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>
                <a:solidFill>
                  <a:srgbClr val="1E293B"/>
                </a:solidFill>
                <a:latin typeface="Consolas"/>
              </a:rPr>
              <a:t>Kafka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1520" y="3500000"/>
            <a:ext cx="2292800" cy="1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5B677C"/>
                </a:solidFill>
                <a:latin typeface="Calibri"/>
              </a:rPr>
              <a:t>KafkaNotificationPublisherAdapter publica el evento — visible al instante en kafka-ui.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2920" y="3550000"/>
            <a:ext cx="80001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2DD4BF"/>
                </a:solidFill>
                <a:latin typeface="Calibr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62920" y="2050000"/>
            <a:ext cx="2750000" cy="320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62920" y="2050000"/>
            <a:ext cx="2750000" cy="73152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91520" y="2300000"/>
            <a:ext cx="500000" cy="500000"/>
          </a:xfrm>
          <a:prstGeom prst="ellipse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1600">
                <a:solidFill>
                  <a:srgbClr val="2DD4B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1520" y="3000000"/>
            <a:ext cx="229280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>
                <a:solidFill>
                  <a:srgbClr val="1E293B"/>
                </a:solidFill>
                <a:latin typeface="Consolas"/>
              </a:rPr>
              <a:t>notifications-service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91520" y="3500000"/>
            <a:ext cx="2292800" cy="1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5B677C"/>
                </a:solidFill>
                <a:latin typeface="Calibri"/>
              </a:rPr>
              <a:t>Modulo aislado (proceso propio) consume el topico y arma el correo.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12920" y="3550000"/>
            <a:ext cx="80001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2DD4BF"/>
                </a:solidFill>
                <a:latin typeface="Calibri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92920" y="2050000"/>
            <a:ext cx="2750000" cy="320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992920" y="2050000"/>
            <a:ext cx="2750000" cy="73152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221520" y="2300000"/>
            <a:ext cx="500000" cy="500000"/>
          </a:xfrm>
          <a:prstGeom prst="ellipse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1600">
                <a:solidFill>
                  <a:srgbClr val="2DD4BF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21520" y="3000000"/>
            <a:ext cx="229280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>
                <a:solidFill>
                  <a:srgbClr val="1E293B"/>
                </a:solidFill>
                <a:latin typeface="Consolas"/>
              </a:rPr>
              <a:t>SMTP real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21520" y="3500000"/>
            <a:ext cx="2292800" cy="1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5B677C"/>
                </a:solidFill>
                <a:latin typeface="Calibri"/>
              </a:rPr>
              <a:t>Se probo contra mail.motoya.com.pe:465 — el correo llego sin errores de conexion ni auth.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5500000"/>
            <a:ext cx="1118796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E293B"/>
                </a:solidFill>
                <a:latin typeface="Calibri"/>
              </a:rPr>
              <a:t>Los 4 pasos corrieron contra Postgres, Kafka y SMTP reales — no mocks. </a:t>
            </a:r>
            <a:r>
              <a:rPr sz="1300" b="0">
                <a:solidFill>
                  <a:srgbClr val="5B677C"/>
                </a:solidFill>
                <a:latin typeface="Calibri"/>
              </a:rPr>
              <a:t>Ver docs/demo-runbook.md para repetirlo.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28016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00000"/>
            <a:ext cx="1118796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2DD4BF"/>
                </a:solidFill>
                <a:latin typeface="Calibri"/>
              </a:rPr>
              <a:t>En una linea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600000"/>
            <a:ext cx="11187960" cy="1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1F5F9"/>
                </a:solidFill>
                <a:latin typeface="Calibri"/>
              </a:rPr>
              <a:t>El nucleo confirma la reserva y publica un evento.</a:t>
            </a:r>
          </a:p>
          <a:p>
            <a:pPr algn="l">
              <a:lnSpc>
                <a:spcPct val="115000"/>
              </a:lnSpc>
            </a:pPr>
            <a:r>
              <a:rPr sz="2600" b="1">
                <a:solidFill>
                  <a:srgbClr val="2DD4BF"/>
                </a:solidFill>
                <a:latin typeface="Calibri"/>
              </a:rPr>
              <a:t>Kafka lo entrega. Un servicio aislado manda el correo.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0000"/>
            <a:ext cx="11000000" cy="1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500" b="1">
                <a:solidFill>
                  <a:srgbClr val="2DD4BF"/>
                </a:solidFill>
                <a:latin typeface="Calibri"/>
              </a:rPr>
              <a:t>●  </a:t>
            </a:r>
            <a:r>
              <a:rPr sz="1500" b="0">
                <a:solidFill>
                  <a:srgbClr val="A8B6CC"/>
                </a:solidFill>
                <a:latin typeface="Calibri"/>
              </a:rPr>
              <a:t>Nada de esto bloquea ni acopla la creacion de la reserva al envio del correo.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500" b="1">
                <a:solidFill>
                  <a:srgbClr val="2DD4BF"/>
                </a:solidFill>
                <a:latin typeface="Calibri"/>
              </a:rPr>
              <a:t>●  </a:t>
            </a:r>
            <a:r>
              <a:rPr sz="1500" b="0">
                <a:solidFill>
                  <a:srgbClr val="A8B6CC"/>
                </a:solidFill>
                <a:latin typeface="Calibri"/>
              </a:rPr>
              <a:t>Complementa (no compite) con la cola de RabbitMQ del equipo: RabbitMQ encola la solicitud, Kafka publica el resultado.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77C"/>
                </a:solidFill>
                <a:latin typeface="Calibri"/>
              </a:rPr>
              <a:t>SIGE · Kafka — eventos de confirmacion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77C"/>
                </a:solidFill>
                <a:latin typeface="Calibri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